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sldIdLst>
    <p:sldId id="256" r:id="rId2"/>
    <p:sldId id="257" r:id="rId3"/>
    <p:sldId id="259" r:id="rId4"/>
    <p:sldId id="260" r:id="rId5"/>
    <p:sldId id="261" r:id="rId6"/>
    <p:sldId id="263" r:id="rId7"/>
    <p:sldId id="269" r:id="rId8"/>
    <p:sldId id="270" r:id="rId9"/>
    <p:sldId id="264" r:id="rId10"/>
    <p:sldId id="265" r:id="rId11"/>
    <p:sldId id="266" r:id="rId12"/>
    <p:sldId id="267" r:id="rId13"/>
    <p:sldId id="268" r:id="rId14"/>
    <p:sldId id="271" r:id="rId15"/>
    <p:sldId id="272" r:id="rId16"/>
    <p:sldId id="273" r:id="rId17"/>
    <p:sldId id="274" r:id="rId18"/>
    <p:sldId id="275" r:id="rId19"/>
    <p:sldId id="276" r:id="rId20"/>
    <p:sldId id="277" r:id="rId21"/>
    <p:sldId id="279" r:id="rId22"/>
    <p:sldId id="280" r:id="rId23"/>
    <p:sldId id="281" r:id="rId24"/>
    <p:sldId id="282" r:id="rId25"/>
    <p:sldId id="283" r:id="rId26"/>
    <p:sldId id="284" r:id="rId27"/>
    <p:sldId id="285" r:id="rId28"/>
    <p:sldId id="286" r:id="rId29"/>
    <p:sldId id="287" r:id="rId30"/>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252D00-0C53-4DBB-A014-D9220EAD068C}" v="640" dt="2021-12-05T07:25:52.5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p:scale>
          <a:sx n="92" d="100"/>
          <a:sy n="92" d="100"/>
        </p:scale>
        <p:origin x="-110"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07297C-3B11-4DFA-AFF6-80D5CF092C02}" type="datetimeFigureOut">
              <a:rPr lang="en-US" smtClean="0"/>
              <a:t>2/15/2023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D51AC2-07E4-42B6-B21C-3C6E7930CA62}" type="slidenum">
              <a:rPr lang="en-US" smtClean="0"/>
              <a:t>‹#›</a:t>
            </a:fld>
            <a:endParaRPr lang="en-US"/>
          </a:p>
        </p:txBody>
      </p:sp>
    </p:spTree>
    <p:extLst>
      <p:ext uri="{BB962C8B-B14F-4D97-AF65-F5344CB8AC3E}">
        <p14:creationId xmlns:p14="http://schemas.microsoft.com/office/powerpoint/2010/main" val="1479957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DB1D62E8-046E-41D8-9E36-3117B7AA09B4}" type="datetime1">
              <a:rPr lang="en-GB" smtClean="0"/>
              <a:t>15/02/2023</a:t>
            </a:fld>
            <a:endParaRPr lang="en-GB"/>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r>
              <a:rPr lang="en-GB" smtClean="0"/>
              <a:t>satishhiremath</a:t>
            </a:r>
            <a:endParaRPr lang="en-GB"/>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330EA680-D336-4FF7-8B7A-9848BB0A1C32}"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1B6C0A7-3B41-49BB-86D0-D33F0E5F36EC}" type="datetime1">
              <a:rPr lang="en-GB" smtClean="0"/>
              <a:t>15/02/2023</a:t>
            </a:fld>
            <a:endParaRPr lang="en-GB"/>
          </a:p>
        </p:txBody>
      </p:sp>
      <p:sp>
        <p:nvSpPr>
          <p:cNvPr id="5" name="Footer Placeholder 4"/>
          <p:cNvSpPr>
            <a:spLocks noGrp="1"/>
          </p:cNvSpPr>
          <p:nvPr>
            <p:ph type="ftr" sz="quarter" idx="11"/>
          </p:nvPr>
        </p:nvSpPr>
        <p:spPr/>
        <p:txBody>
          <a:bodyPr/>
          <a:lstStyle>
            <a:extLst/>
          </a:lstStyle>
          <a:p>
            <a:r>
              <a:rPr lang="en-GB" smtClean="0"/>
              <a:t>satishhiremath</a:t>
            </a:r>
            <a:endParaRPr lang="en-GB"/>
          </a:p>
        </p:txBody>
      </p:sp>
      <p:sp>
        <p:nvSpPr>
          <p:cNvPr id="6" name="Slide Number Placeholder 5"/>
          <p:cNvSpPr>
            <a:spLocks noGrp="1"/>
          </p:cNvSpPr>
          <p:nvPr>
            <p:ph type="sldNum" sz="quarter" idx="12"/>
          </p:nvPr>
        </p:nvSpPr>
        <p:spPr/>
        <p:txBody>
          <a:bodyPr/>
          <a:lstStyle>
            <a:extLst/>
          </a:lstStyle>
          <a:p>
            <a:fld id="{330EA680-D336-4FF7-8B7A-9848BB0A1C32}" type="slidenum">
              <a:rPr lang="en-GB" smtClean="0"/>
              <a:pPr/>
              <a:t>‹#›</a:t>
            </a:fld>
            <a:endParaRPr lang="en-GB"/>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47846D5E-481B-449E-AA16-074901091F58}" type="datetime1">
              <a:rPr lang="en-GB" smtClean="0"/>
              <a:t>15/02/2023</a:t>
            </a:fld>
            <a:endParaRPr lang="en-GB"/>
          </a:p>
        </p:txBody>
      </p:sp>
      <p:sp>
        <p:nvSpPr>
          <p:cNvPr id="5" name="Footer Placeholder 4"/>
          <p:cNvSpPr>
            <a:spLocks noGrp="1"/>
          </p:cNvSpPr>
          <p:nvPr>
            <p:ph type="ftr" sz="quarter" idx="11"/>
          </p:nvPr>
        </p:nvSpPr>
        <p:spPr/>
        <p:txBody>
          <a:bodyPr/>
          <a:lstStyle>
            <a:extLst/>
          </a:lstStyle>
          <a:p>
            <a:r>
              <a:rPr lang="en-GB" smtClean="0"/>
              <a:t>satishhiremath</a:t>
            </a:r>
            <a:endParaRPr lang="en-GB"/>
          </a:p>
        </p:txBody>
      </p:sp>
      <p:sp>
        <p:nvSpPr>
          <p:cNvPr id="6" name="Slide Number Placeholder 5"/>
          <p:cNvSpPr>
            <a:spLocks noGrp="1"/>
          </p:cNvSpPr>
          <p:nvPr>
            <p:ph type="sldNum" sz="quarter" idx="12"/>
          </p:nvPr>
        </p:nvSpPr>
        <p:spPr/>
        <p:txBody>
          <a:bodyPr/>
          <a:lstStyle>
            <a:extLst/>
          </a:lstStyle>
          <a:p>
            <a:fld id="{330EA680-D336-4FF7-8B7A-9848BB0A1C32}" type="slidenum">
              <a:rPr lang="en-GB" smtClean="0"/>
              <a:pPr/>
              <a:t>‹#›</a:t>
            </a:fld>
            <a:endParaRPr lang="en-GB"/>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7CC7FAA-A9BF-47A5-A45E-37F4CA9BC299}" type="datetime1">
              <a:rPr lang="en-GB" smtClean="0"/>
              <a:t>15/02/2023</a:t>
            </a:fld>
            <a:endParaRPr lang="en-GB"/>
          </a:p>
        </p:txBody>
      </p:sp>
      <p:sp>
        <p:nvSpPr>
          <p:cNvPr id="6" name="Footer Placeholder 5"/>
          <p:cNvSpPr>
            <a:spLocks noGrp="1"/>
          </p:cNvSpPr>
          <p:nvPr>
            <p:ph type="ftr" sz="quarter" idx="11"/>
          </p:nvPr>
        </p:nvSpPr>
        <p:spPr/>
        <p:txBody>
          <a:bodyPr/>
          <a:lstStyle>
            <a:extLst/>
          </a:lstStyle>
          <a:p>
            <a:r>
              <a:rPr lang="en-GB" smtClean="0"/>
              <a:t>satishhiremath</a:t>
            </a:r>
            <a:endParaRPr lang="en-GB"/>
          </a:p>
        </p:txBody>
      </p:sp>
      <p:sp>
        <p:nvSpPr>
          <p:cNvPr id="7" name="Slide Number Placeholder 6"/>
          <p:cNvSpPr>
            <a:spLocks noGrp="1"/>
          </p:cNvSpPr>
          <p:nvPr>
            <p:ph type="sldNum" sz="quarter" idx="12"/>
          </p:nvPr>
        </p:nvSpPr>
        <p:spPr/>
        <p:txBody>
          <a:bodyPr/>
          <a:lstStyle>
            <a:extLst/>
          </a:lstStyle>
          <a:p>
            <a:fld id="{330EA680-D336-4FF7-8B7A-9848BB0A1C32}" type="slidenum">
              <a:rPr lang="en-GB" smtClean="0"/>
              <a:pPr/>
              <a:t>‹#›</a:t>
            </a:fld>
            <a:endParaRPr lang="en-GB"/>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76EC771C-9B5A-469D-8F20-32F87B78C2DC}" type="datetime1">
              <a:rPr lang="en-GB" smtClean="0"/>
              <a:t>15/02/2023</a:t>
            </a:fld>
            <a:endParaRPr lang="en-GB"/>
          </a:p>
        </p:txBody>
      </p:sp>
      <p:sp>
        <p:nvSpPr>
          <p:cNvPr id="8" name="Footer Placeholder 7"/>
          <p:cNvSpPr>
            <a:spLocks noGrp="1"/>
          </p:cNvSpPr>
          <p:nvPr>
            <p:ph type="ftr" sz="quarter" idx="11"/>
          </p:nvPr>
        </p:nvSpPr>
        <p:spPr/>
        <p:txBody>
          <a:bodyPr/>
          <a:lstStyle>
            <a:extLst/>
          </a:lstStyle>
          <a:p>
            <a:r>
              <a:rPr lang="en-GB" smtClean="0"/>
              <a:t>satishhiremath</a:t>
            </a:r>
            <a:endParaRPr lang="en-GB"/>
          </a:p>
        </p:txBody>
      </p:sp>
      <p:sp>
        <p:nvSpPr>
          <p:cNvPr id="9" name="Slide Number Placeholder 8"/>
          <p:cNvSpPr>
            <a:spLocks noGrp="1"/>
          </p:cNvSpPr>
          <p:nvPr>
            <p:ph type="sldNum" sz="quarter" idx="12"/>
          </p:nvPr>
        </p:nvSpPr>
        <p:spPr/>
        <p:txBody>
          <a:bodyPr/>
          <a:lstStyle>
            <a:extLst/>
          </a:lstStyle>
          <a:p>
            <a:fld id="{330EA680-D336-4FF7-8B7A-9848BB0A1C32}"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8CF34D93-E9F7-4DE6-A447-5EB99DD64EFE}" type="datetime1">
              <a:rPr lang="en-GB" smtClean="0"/>
              <a:t>15/02/2023</a:t>
            </a:fld>
            <a:endParaRPr lang="en-GB"/>
          </a:p>
        </p:txBody>
      </p:sp>
      <p:sp>
        <p:nvSpPr>
          <p:cNvPr id="4" name="Footer Placeholder 3"/>
          <p:cNvSpPr>
            <a:spLocks noGrp="1"/>
          </p:cNvSpPr>
          <p:nvPr>
            <p:ph type="ftr" sz="quarter" idx="11"/>
          </p:nvPr>
        </p:nvSpPr>
        <p:spPr/>
        <p:txBody>
          <a:bodyPr/>
          <a:lstStyle>
            <a:extLst/>
          </a:lstStyle>
          <a:p>
            <a:r>
              <a:rPr lang="en-GB" smtClean="0"/>
              <a:t>satishhiremath</a:t>
            </a:r>
            <a:endParaRPr lang="en-GB"/>
          </a:p>
        </p:txBody>
      </p:sp>
      <p:sp>
        <p:nvSpPr>
          <p:cNvPr id="5" name="Slide Number Placeholder 4"/>
          <p:cNvSpPr>
            <a:spLocks noGrp="1"/>
          </p:cNvSpPr>
          <p:nvPr>
            <p:ph type="sldNum" sz="quarter" idx="12"/>
          </p:nvPr>
        </p:nvSpPr>
        <p:spPr/>
        <p:txBody>
          <a:bodyPr/>
          <a:lstStyle>
            <a:extLst/>
          </a:lstStyle>
          <a:p>
            <a:fld id="{330EA680-D336-4FF7-8B7A-9848BB0A1C32}" type="slidenum">
              <a:rPr lang="en-GB" smtClean="0"/>
              <a:pPr/>
              <a:t>‹#›</a:t>
            </a:fld>
            <a:endParaRPr lang="en-GB"/>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99D6CE4F-181D-4792-BAEB-E9AA77C9D769}" type="datetime1">
              <a:rPr lang="en-GB" smtClean="0"/>
              <a:t>15/02/2023</a:t>
            </a:fld>
            <a:endParaRPr lang="en-GB"/>
          </a:p>
        </p:txBody>
      </p:sp>
      <p:sp>
        <p:nvSpPr>
          <p:cNvPr id="3" name="Footer Placeholder 2"/>
          <p:cNvSpPr>
            <a:spLocks noGrp="1"/>
          </p:cNvSpPr>
          <p:nvPr>
            <p:ph type="ftr" sz="quarter" idx="11"/>
          </p:nvPr>
        </p:nvSpPr>
        <p:spPr/>
        <p:txBody>
          <a:bodyPr/>
          <a:lstStyle>
            <a:extLst/>
          </a:lstStyle>
          <a:p>
            <a:r>
              <a:rPr lang="en-GB" smtClean="0"/>
              <a:t>satishhiremath</a:t>
            </a:r>
            <a:endParaRPr lang="en-GB"/>
          </a:p>
        </p:txBody>
      </p:sp>
      <p:sp>
        <p:nvSpPr>
          <p:cNvPr id="4" name="Slide Number Placeholder 3"/>
          <p:cNvSpPr>
            <a:spLocks noGrp="1"/>
          </p:cNvSpPr>
          <p:nvPr>
            <p:ph type="sldNum" sz="quarter" idx="12"/>
          </p:nvPr>
        </p:nvSpPr>
        <p:spPr/>
        <p:txBody>
          <a:bodyPr/>
          <a:lstStyle>
            <a:extLst/>
          </a:lstStyle>
          <a:p>
            <a:fld id="{330EA680-D336-4FF7-8B7A-9848BB0A1C32}"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extLst/>
          </a:lstStyle>
          <a:p>
            <a:fld id="{EDE64E45-1E16-4127-A34E-46F9117B6344}" type="datetime1">
              <a:rPr lang="en-GB" smtClean="0"/>
              <a:t>15/02/2023</a:t>
            </a:fld>
            <a:endParaRPr lang="en-GB"/>
          </a:p>
        </p:txBody>
      </p:sp>
      <p:sp>
        <p:nvSpPr>
          <p:cNvPr id="6" name="Footer Placeholder 5"/>
          <p:cNvSpPr>
            <a:spLocks noGrp="1"/>
          </p:cNvSpPr>
          <p:nvPr>
            <p:ph type="ftr" sz="quarter" idx="11"/>
          </p:nvPr>
        </p:nvSpPr>
        <p:spPr/>
        <p:txBody>
          <a:bodyPr/>
          <a:lstStyle>
            <a:extLst/>
          </a:lstStyle>
          <a:p>
            <a:r>
              <a:rPr lang="en-GB" smtClean="0"/>
              <a:t>satishhiremath</a:t>
            </a:r>
            <a:endParaRPr lang="en-GB"/>
          </a:p>
        </p:txBody>
      </p:sp>
      <p:sp>
        <p:nvSpPr>
          <p:cNvPr id="7" name="Slide Number Placeholder 6"/>
          <p:cNvSpPr>
            <a:spLocks noGrp="1"/>
          </p:cNvSpPr>
          <p:nvPr>
            <p:ph type="sldNum" sz="quarter" idx="12"/>
          </p:nvPr>
        </p:nvSpPr>
        <p:spPr/>
        <p:txBody>
          <a:bodyPr/>
          <a:lstStyle>
            <a:extLst/>
          </a:lstStyle>
          <a:p>
            <a:fld id="{330EA680-D336-4FF7-8B7A-9848BB0A1C32}"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438867C2-5C1D-4D56-A2A4-FC872C93DF83}" type="datetime1">
              <a:rPr lang="en-GB" smtClean="0"/>
              <a:t>15/02/2023</a:t>
            </a:fld>
            <a:endParaRPr lang="en-GB"/>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r>
              <a:rPr lang="en-GB" smtClean="0"/>
              <a:t>satishhiremath</a:t>
            </a:r>
            <a:endParaRPr lang="en-GB"/>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330EA680-D336-4FF7-8B7A-9848BB0A1C32}" type="slidenum">
              <a:rPr lang="en-GB" smtClean="0"/>
              <a:pPr/>
              <a:t>‹#›</a:t>
            </a:fld>
            <a:endParaRPr lang="en-GB"/>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1481330"/>
            <a:ext cx="109728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AE3D89B-31A1-41C4-B5BD-9B979E363CB9}" type="datetime1">
              <a:rPr lang="en-GB" smtClean="0"/>
              <a:t>15/02/2023</a:t>
            </a:fld>
            <a:endParaRPr lang="en-GB"/>
          </a:p>
        </p:txBody>
      </p:sp>
      <p:sp>
        <p:nvSpPr>
          <p:cNvPr id="5" name="Footer Placeholder 4"/>
          <p:cNvSpPr>
            <a:spLocks noGrp="1"/>
          </p:cNvSpPr>
          <p:nvPr>
            <p:ph type="ftr" sz="quarter" idx="11"/>
          </p:nvPr>
        </p:nvSpPr>
        <p:spPr/>
        <p:txBody>
          <a:bodyPr/>
          <a:lstStyle>
            <a:extLst/>
          </a:lstStyle>
          <a:p>
            <a:r>
              <a:rPr lang="en-GB" smtClean="0"/>
              <a:t>satishhiremath</a:t>
            </a:r>
            <a:endParaRPr lang="en-GB"/>
          </a:p>
        </p:txBody>
      </p:sp>
      <p:sp>
        <p:nvSpPr>
          <p:cNvPr id="6" name="Slide Number Placeholder 5"/>
          <p:cNvSpPr>
            <a:spLocks noGrp="1"/>
          </p:cNvSpPr>
          <p:nvPr>
            <p:ph type="sldNum" sz="quarter" idx="12"/>
          </p:nvPr>
        </p:nvSpPr>
        <p:spPr/>
        <p:txBody>
          <a:bodyPr/>
          <a:lstStyle>
            <a:extLst/>
          </a:lstStyle>
          <a:p>
            <a:fld id="{330EA680-D336-4FF7-8B7A-9848BB0A1C32}"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1"/>
            <a:ext cx="84328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1552CD6-C9D8-43EA-9EA8-4744962E0663}" type="datetime1">
              <a:rPr lang="en-GB" smtClean="0"/>
              <a:t>15/02/2023</a:t>
            </a:fld>
            <a:endParaRPr lang="en-GB"/>
          </a:p>
        </p:txBody>
      </p:sp>
      <p:sp>
        <p:nvSpPr>
          <p:cNvPr id="5" name="Footer Placeholder 4"/>
          <p:cNvSpPr>
            <a:spLocks noGrp="1"/>
          </p:cNvSpPr>
          <p:nvPr>
            <p:ph type="ftr" sz="quarter" idx="11"/>
          </p:nvPr>
        </p:nvSpPr>
        <p:spPr/>
        <p:txBody>
          <a:bodyPr/>
          <a:lstStyle>
            <a:extLst/>
          </a:lstStyle>
          <a:p>
            <a:r>
              <a:rPr lang="en-GB" smtClean="0"/>
              <a:t>satishhiremath</a:t>
            </a:r>
            <a:endParaRPr lang="en-GB"/>
          </a:p>
        </p:txBody>
      </p:sp>
      <p:sp>
        <p:nvSpPr>
          <p:cNvPr id="6" name="Slide Number Placeholder 5"/>
          <p:cNvSpPr>
            <a:spLocks noGrp="1"/>
          </p:cNvSpPr>
          <p:nvPr>
            <p:ph type="sldNum" sz="quarter" idx="12"/>
          </p:nvPr>
        </p:nvSpPr>
        <p:spPr/>
        <p:txBody>
          <a:bodyPr/>
          <a:lstStyle>
            <a:extLst/>
          </a:lstStyle>
          <a:p>
            <a:fld id="{330EA680-D336-4FF7-8B7A-9848BB0A1C32}"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E3B29BF8-A10A-4B42-B8AD-21828313DEC6}" type="datetime1">
              <a:rPr lang="en-GB" smtClean="0"/>
              <a:t>15/02/2023</a:t>
            </a:fld>
            <a:endParaRPr lang="en-GB"/>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r>
              <a:rPr lang="en-GB" smtClean="0"/>
              <a:t>satishhiremath</a:t>
            </a:r>
            <a:endParaRPr lang="en-GB"/>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330EA680-D336-4FF7-8B7A-9848BB0A1C32}"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91840" y="2685011"/>
            <a:ext cx="4946073" cy="584775"/>
          </a:xfrm>
          <a:prstGeom prst="rect">
            <a:avLst/>
          </a:prstGeom>
        </p:spPr>
        <p:txBody>
          <a:bodyPr wrap="square">
            <a:spAutoFit/>
          </a:bodyPr>
          <a:lstStyle/>
          <a:p>
            <a:pPr algn="ctr"/>
            <a:r>
              <a:rPr lang="en-GB" sz="3200" b="1" dirty="0">
                <a:latin typeface="Times New Roman"/>
                <a:cs typeface="Times New Roman"/>
              </a:rPr>
              <a:t>Design Thinking in IT</a:t>
            </a: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02735DC9-5584-4C02-B95B-7C7467F02B1A}"/>
              </a:ext>
            </a:extLst>
          </p:cNvPr>
          <p:cNvSpPr txBox="1"/>
          <p:nvPr/>
        </p:nvSpPr>
        <p:spPr>
          <a:xfrm>
            <a:off x="-1539" y="-1541"/>
            <a:ext cx="12187380"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Contents to be covered</a:t>
            </a:r>
          </a:p>
        </p:txBody>
      </p:sp>
      <p:sp>
        <p:nvSpPr>
          <p:cNvPr id="5" name="TextBox 4">
            <a:extLst>
              <a:ext uri="{FF2B5EF4-FFF2-40B4-BE49-F238E27FC236}">
                <a16:creationId xmlns:a16="http://schemas.microsoft.com/office/drawing/2014/main" xmlns="" id="{925CE795-F63A-4C83-8D22-C2AEF30E564C}"/>
              </a:ext>
            </a:extLst>
          </p:cNvPr>
          <p:cNvSpPr txBox="1"/>
          <p:nvPr/>
        </p:nvSpPr>
        <p:spPr>
          <a:xfrm>
            <a:off x="1673033" y="1126547"/>
            <a:ext cx="6499319" cy="461665"/>
          </a:xfrm>
          <a:prstGeom prst="rect">
            <a:avLst/>
          </a:prstGeom>
          <a:solidFill>
            <a:schemeClr val="accent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latin typeface="Times New Roman"/>
                <a:cs typeface="Times New Roman"/>
              </a:rPr>
              <a:t>Design thinking in IT industries</a:t>
            </a:r>
          </a:p>
        </p:txBody>
      </p:sp>
      <p:sp>
        <p:nvSpPr>
          <p:cNvPr id="6" name="TextBox 5">
            <a:extLst>
              <a:ext uri="{FF2B5EF4-FFF2-40B4-BE49-F238E27FC236}">
                <a16:creationId xmlns:a16="http://schemas.microsoft.com/office/drawing/2014/main" xmlns="" id="{2AD7C093-7E0A-4C97-BE0F-87FA97525649}"/>
              </a:ext>
            </a:extLst>
          </p:cNvPr>
          <p:cNvSpPr txBox="1"/>
          <p:nvPr/>
        </p:nvSpPr>
        <p:spPr>
          <a:xfrm>
            <a:off x="1673033" y="1957820"/>
            <a:ext cx="7076592" cy="461665"/>
          </a:xfrm>
          <a:prstGeom prst="rect">
            <a:avLst/>
          </a:prstGeom>
          <a:solidFill>
            <a:schemeClr val="accent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latin typeface="Times New Roman"/>
                <a:cs typeface="Times New Roman"/>
              </a:rPr>
              <a:t>Design thinking to Business Process Model</a:t>
            </a:r>
          </a:p>
        </p:txBody>
      </p:sp>
      <p:sp>
        <p:nvSpPr>
          <p:cNvPr id="7" name="TextBox 6">
            <a:extLst>
              <a:ext uri="{FF2B5EF4-FFF2-40B4-BE49-F238E27FC236}">
                <a16:creationId xmlns:a16="http://schemas.microsoft.com/office/drawing/2014/main" xmlns="" id="{978D1D87-C093-49ED-A6D3-4657BB1F415E}"/>
              </a:ext>
            </a:extLst>
          </p:cNvPr>
          <p:cNvSpPr txBox="1"/>
          <p:nvPr/>
        </p:nvSpPr>
        <p:spPr>
          <a:xfrm>
            <a:off x="1673032" y="2773698"/>
            <a:ext cx="6268410" cy="461665"/>
          </a:xfrm>
          <a:prstGeom prst="rect">
            <a:avLst/>
          </a:prstGeom>
          <a:solidFill>
            <a:schemeClr val="accent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latin typeface="Times New Roman"/>
                <a:cs typeface="Times New Roman"/>
              </a:rPr>
              <a:t>Design thinking for Agile Software Development</a:t>
            </a:r>
          </a:p>
        </p:txBody>
      </p:sp>
      <p:sp>
        <p:nvSpPr>
          <p:cNvPr id="2" name="TextBox 1">
            <a:extLst>
              <a:ext uri="{FF2B5EF4-FFF2-40B4-BE49-F238E27FC236}">
                <a16:creationId xmlns:a16="http://schemas.microsoft.com/office/drawing/2014/main" xmlns="" id="{7AF109B1-164B-4576-A242-BE5AFC180D68}"/>
              </a:ext>
            </a:extLst>
          </p:cNvPr>
          <p:cNvSpPr txBox="1"/>
          <p:nvPr/>
        </p:nvSpPr>
        <p:spPr>
          <a:xfrm>
            <a:off x="1669665" y="4325119"/>
            <a:ext cx="4636653" cy="461665"/>
          </a:xfrm>
          <a:prstGeom prst="rect">
            <a:avLst/>
          </a:prstGeom>
          <a:solidFill>
            <a:schemeClr val="accent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latin typeface="Times New Roman"/>
                <a:cs typeface="Times New Roman"/>
              </a:rPr>
              <a:t>Scenario Based Prototyping</a:t>
            </a:r>
          </a:p>
        </p:txBody>
      </p:sp>
      <p:sp>
        <p:nvSpPr>
          <p:cNvPr id="8" name="TextBox 7">
            <a:extLst>
              <a:ext uri="{FF2B5EF4-FFF2-40B4-BE49-F238E27FC236}">
                <a16:creationId xmlns:a16="http://schemas.microsoft.com/office/drawing/2014/main" xmlns="" id="{5C7E3631-B019-49D4-B0F3-26D8F5A080F8}"/>
              </a:ext>
            </a:extLst>
          </p:cNvPr>
          <p:cNvSpPr txBox="1"/>
          <p:nvPr/>
        </p:nvSpPr>
        <p:spPr>
          <a:xfrm>
            <a:off x="1673033" y="3543396"/>
            <a:ext cx="4498107" cy="461665"/>
          </a:xfrm>
          <a:prstGeom prst="rect">
            <a:avLst/>
          </a:prstGeom>
          <a:solidFill>
            <a:schemeClr val="accent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latin typeface="Times New Roman"/>
                <a:cs typeface="Times New Roman"/>
              </a:rPr>
              <a:t>Virtual Collaboration</a:t>
            </a:r>
          </a:p>
        </p:txBody>
      </p:sp>
    </p:spTree>
    <p:extLst>
      <p:ext uri="{BB962C8B-B14F-4D97-AF65-F5344CB8AC3E}">
        <p14:creationId xmlns:p14="http://schemas.microsoft.com/office/powerpoint/2010/main" val="97598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2"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6158" y="-1540"/>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3" name="TextBox 2"/>
          <p:cNvSpPr txBox="1"/>
          <p:nvPr/>
        </p:nvSpPr>
        <p:spPr>
          <a:xfrm>
            <a:off x="0" y="794758"/>
            <a:ext cx="4315626" cy="369332"/>
          </a:xfrm>
          <a:prstGeom prst="rect">
            <a:avLst/>
          </a:prstGeom>
          <a:solidFill>
            <a:schemeClr val="accent2">
              <a:lumMod val="20000"/>
              <a:lumOff val="80000"/>
            </a:schemeClr>
          </a:solidFill>
        </p:spPr>
        <p:txBody>
          <a:bodyPr wrap="square" rtlCol="0">
            <a:spAutoFit/>
          </a:bodyPr>
          <a:lstStyle/>
          <a:p>
            <a:r>
              <a:rPr lang="en-IN" dirty="0" smtClean="0">
                <a:latin typeface="Times New Roman" panose="02020603050405020304" pitchFamily="18" charset="0"/>
                <a:cs typeface="Times New Roman" panose="02020603050405020304" pitchFamily="18" charset="0"/>
              </a:rPr>
              <a:t>Understanding IT industry with an example</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9" y="1437168"/>
            <a:ext cx="2763984" cy="2016000"/>
          </a:xfrm>
          <a:prstGeom prst="rect">
            <a:avLst/>
          </a:prstGeom>
        </p:spPr>
      </p:pic>
      <p:sp>
        <p:nvSpPr>
          <p:cNvPr id="7" name="Right Arrow 6"/>
          <p:cNvSpPr/>
          <p:nvPr/>
        </p:nvSpPr>
        <p:spPr>
          <a:xfrm>
            <a:off x="2557832" y="2860040"/>
            <a:ext cx="594525" cy="2133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p:cNvPicPr>
            <a:picLocks noChangeAspect="1"/>
          </p:cNvPicPr>
          <p:nvPr/>
        </p:nvPicPr>
        <p:blipFill>
          <a:blip r:embed="rId3"/>
          <a:stretch>
            <a:fillRect/>
          </a:stretch>
        </p:blipFill>
        <p:spPr>
          <a:xfrm>
            <a:off x="3230467" y="1728270"/>
            <a:ext cx="1784790" cy="1728000"/>
          </a:xfrm>
          <a:prstGeom prst="rect">
            <a:avLst/>
          </a:prstGeom>
        </p:spPr>
      </p:pic>
      <p:pic>
        <p:nvPicPr>
          <p:cNvPr id="9" name="Picture 8"/>
          <p:cNvPicPr>
            <a:picLocks noChangeAspect="1"/>
          </p:cNvPicPr>
          <p:nvPr/>
        </p:nvPicPr>
        <p:blipFill>
          <a:blip r:embed="rId4"/>
          <a:stretch>
            <a:fillRect/>
          </a:stretch>
        </p:blipFill>
        <p:spPr>
          <a:xfrm>
            <a:off x="5374613" y="2011190"/>
            <a:ext cx="1828949" cy="1584000"/>
          </a:xfrm>
          <a:prstGeom prst="rect">
            <a:avLst/>
          </a:prstGeom>
        </p:spPr>
      </p:pic>
      <p:sp>
        <p:nvSpPr>
          <p:cNvPr id="11" name="Right Arrow 10"/>
          <p:cNvSpPr/>
          <p:nvPr/>
        </p:nvSpPr>
        <p:spPr>
          <a:xfrm>
            <a:off x="4590376" y="2803190"/>
            <a:ext cx="594525" cy="2133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p:cNvPicPr>
            <a:picLocks noChangeAspect="1"/>
          </p:cNvPicPr>
          <p:nvPr/>
        </p:nvPicPr>
        <p:blipFill>
          <a:blip r:embed="rId5"/>
          <a:stretch>
            <a:fillRect/>
          </a:stretch>
        </p:blipFill>
        <p:spPr>
          <a:xfrm>
            <a:off x="7922273" y="2110440"/>
            <a:ext cx="1567458" cy="1296000"/>
          </a:xfrm>
          <a:prstGeom prst="rect">
            <a:avLst/>
          </a:prstGeom>
        </p:spPr>
      </p:pic>
      <p:sp>
        <p:nvSpPr>
          <p:cNvPr id="13" name="Right Arrow 12"/>
          <p:cNvSpPr/>
          <p:nvPr/>
        </p:nvSpPr>
        <p:spPr>
          <a:xfrm>
            <a:off x="7265655" y="2758440"/>
            <a:ext cx="594525" cy="2133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p:cNvPicPr>
            <a:picLocks noChangeAspect="1"/>
          </p:cNvPicPr>
          <p:nvPr/>
        </p:nvPicPr>
        <p:blipFill>
          <a:blip r:embed="rId6"/>
          <a:stretch>
            <a:fillRect/>
          </a:stretch>
        </p:blipFill>
        <p:spPr>
          <a:xfrm>
            <a:off x="10289608" y="2220277"/>
            <a:ext cx="1866900" cy="1076325"/>
          </a:xfrm>
          <a:prstGeom prst="rect">
            <a:avLst/>
          </a:prstGeom>
        </p:spPr>
      </p:pic>
      <p:sp>
        <p:nvSpPr>
          <p:cNvPr id="15" name="Right Arrow 14"/>
          <p:cNvSpPr/>
          <p:nvPr/>
        </p:nvSpPr>
        <p:spPr>
          <a:xfrm>
            <a:off x="9613917" y="2733039"/>
            <a:ext cx="594525" cy="2133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p:cNvSpPr txBox="1"/>
          <p:nvPr/>
        </p:nvSpPr>
        <p:spPr>
          <a:xfrm>
            <a:off x="10527098" y="3406440"/>
            <a:ext cx="1391920"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XYZ InfoTech</a:t>
            </a:r>
            <a:endParaRPr lang="en-IN" sz="1400" dirty="0">
              <a:latin typeface="Times New Roman" panose="02020603050405020304" pitchFamily="18" charset="0"/>
              <a:cs typeface="Times New Roman" panose="02020603050405020304" pitchFamily="18" charset="0"/>
            </a:endParaRPr>
          </a:p>
        </p:txBody>
      </p:sp>
      <p:sp>
        <p:nvSpPr>
          <p:cNvPr id="16" name="Rectangle 15"/>
          <p:cNvSpPr/>
          <p:nvPr/>
        </p:nvSpPr>
        <p:spPr>
          <a:xfrm>
            <a:off x="10208442" y="3714093"/>
            <a:ext cx="2090164" cy="461665"/>
          </a:xfrm>
          <a:prstGeom prst="rect">
            <a:avLst/>
          </a:prstGeom>
        </p:spPr>
        <p:txBody>
          <a:bodyPr wrap="square">
            <a:spAutoFit/>
          </a:bodyPr>
          <a:lstStyle/>
          <a:p>
            <a:r>
              <a:rPr lang="en-US" sz="1200" dirty="0">
                <a:solidFill>
                  <a:srgbClr val="282829"/>
                </a:solidFill>
                <a:latin typeface="Times New Roman" panose="02020603050405020304" pitchFamily="18" charset="0"/>
                <a:cs typeface="Times New Roman" panose="02020603050405020304" pitchFamily="18" charset="0"/>
              </a:rPr>
              <a:t>promises to use technology to solve all of your problems!</a:t>
            </a:r>
            <a:endParaRPr lang="en-IN" sz="1200" dirty="0">
              <a:latin typeface="Times New Roman" panose="02020603050405020304" pitchFamily="18" charset="0"/>
              <a:cs typeface="Times New Roman" panose="02020603050405020304" pitchFamily="18" charset="0"/>
            </a:endParaRPr>
          </a:p>
        </p:txBody>
      </p:sp>
      <p:sp>
        <p:nvSpPr>
          <p:cNvPr id="17" name="Rectangle 16"/>
          <p:cNvSpPr/>
          <p:nvPr/>
        </p:nvSpPr>
        <p:spPr>
          <a:xfrm>
            <a:off x="-37375" y="4065300"/>
            <a:ext cx="8706002" cy="369332"/>
          </a:xfrm>
          <a:prstGeom prst="rect">
            <a:avLst/>
          </a:prstGeom>
        </p:spPr>
        <p:txBody>
          <a:bodyPr wrap="square">
            <a:spAutoFit/>
          </a:bodyPr>
          <a:lstStyle/>
          <a:p>
            <a:pPr algn="just"/>
            <a:r>
              <a:rPr lang="en-US" dirty="0" smtClean="0">
                <a:solidFill>
                  <a:srgbClr val="282829"/>
                </a:solidFill>
                <a:latin typeface="Times New Roman" panose="02020603050405020304" pitchFamily="18" charset="0"/>
                <a:cs typeface="Times New Roman" panose="02020603050405020304" pitchFamily="18" charset="0"/>
              </a:rPr>
              <a:t>IT companies - They </a:t>
            </a:r>
            <a:r>
              <a:rPr lang="en-US" dirty="0">
                <a:solidFill>
                  <a:srgbClr val="282829"/>
                </a:solidFill>
                <a:latin typeface="Times New Roman" panose="02020603050405020304" pitchFamily="18" charset="0"/>
                <a:cs typeface="Times New Roman" panose="02020603050405020304" pitchFamily="18" charset="0"/>
              </a:rPr>
              <a:t>build software to make other businesses run smoothly!</a:t>
            </a:r>
            <a:endParaRPr lang="en-IN"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7375" y="4623051"/>
            <a:ext cx="11922828" cy="369332"/>
          </a:xfrm>
          <a:prstGeom prst="rect">
            <a:avLst/>
          </a:prstGeom>
          <a:noFill/>
        </p:spPr>
        <p:txBody>
          <a:bodyPr wrap="square" rtlCol="0">
            <a:spAutoFit/>
          </a:bodyPr>
          <a:lstStyle/>
          <a:p>
            <a:pPr algn="just"/>
            <a:r>
              <a:rPr lang="en-IN" dirty="0" smtClean="0">
                <a:latin typeface="Times New Roman" panose="02020603050405020304" pitchFamily="18" charset="0"/>
                <a:cs typeface="Times New Roman" panose="02020603050405020304" pitchFamily="18" charset="0"/>
              </a:rPr>
              <a:t>Now if I know some technology and ask a programmer to solve problems by building specific pieces of software</a:t>
            </a:r>
            <a:endParaRPr lang="en-IN" dirty="0">
              <a:latin typeface="Times New Roman" panose="02020603050405020304" pitchFamily="18" charset="0"/>
              <a:cs typeface="Times New Roman" panose="02020603050405020304" pitchFamily="18" charset="0"/>
            </a:endParaRPr>
          </a:p>
        </p:txBody>
      </p:sp>
      <p:pic>
        <p:nvPicPr>
          <p:cNvPr id="19" name="Picture 18"/>
          <p:cNvPicPr>
            <a:picLocks noChangeAspect="1"/>
          </p:cNvPicPr>
          <p:nvPr/>
        </p:nvPicPr>
        <p:blipFill>
          <a:blip r:embed="rId7"/>
          <a:stretch>
            <a:fillRect/>
          </a:stretch>
        </p:blipFill>
        <p:spPr>
          <a:xfrm>
            <a:off x="248602" y="5129820"/>
            <a:ext cx="1514475" cy="1228725"/>
          </a:xfrm>
          <a:prstGeom prst="rect">
            <a:avLst/>
          </a:prstGeom>
        </p:spPr>
      </p:pic>
      <p:sp>
        <p:nvSpPr>
          <p:cNvPr id="20" name="TextBox 19"/>
          <p:cNvSpPr txBox="1"/>
          <p:nvPr/>
        </p:nvSpPr>
        <p:spPr>
          <a:xfrm>
            <a:off x="0" y="6432354"/>
            <a:ext cx="2407920" cy="461665"/>
          </a:xfrm>
          <a:prstGeom prst="rect">
            <a:avLst/>
          </a:prstGeom>
          <a:noFill/>
        </p:spPr>
        <p:txBody>
          <a:bodyPr wrap="square" rtlCol="0">
            <a:spAutoFit/>
          </a:bodyPr>
          <a:lstStyle/>
          <a:p>
            <a:r>
              <a:rPr lang="en-IN" sz="1200" dirty="0" smtClean="0">
                <a:latin typeface="Times New Roman" panose="02020603050405020304" pitchFamily="18" charset="0"/>
                <a:cs typeface="Times New Roman" panose="02020603050405020304" pitchFamily="18" charset="0"/>
              </a:rPr>
              <a:t>My grocery company has got IT department</a:t>
            </a:r>
            <a:endParaRPr lang="en-IN" sz="1200" dirty="0">
              <a:latin typeface="Times New Roman" panose="02020603050405020304" pitchFamily="18" charset="0"/>
              <a:cs typeface="Times New Roman" panose="02020603050405020304" pitchFamily="18" charset="0"/>
            </a:endParaRPr>
          </a:p>
        </p:txBody>
      </p:sp>
      <p:sp>
        <p:nvSpPr>
          <p:cNvPr id="21" name="Rectangle 20"/>
          <p:cNvSpPr/>
          <p:nvPr/>
        </p:nvSpPr>
        <p:spPr>
          <a:xfrm>
            <a:off x="4112442" y="5370285"/>
            <a:ext cx="6096000" cy="923330"/>
          </a:xfrm>
          <a:prstGeom prst="rect">
            <a:avLst/>
          </a:prstGeom>
        </p:spPr>
        <p:txBody>
          <a:bodyPr>
            <a:spAutoFit/>
          </a:bodyPr>
          <a:lstStyle/>
          <a:p>
            <a:pPr algn="just"/>
            <a:r>
              <a:rPr lang="en-US" dirty="0">
                <a:solidFill>
                  <a:srgbClr val="282829"/>
                </a:solidFill>
                <a:latin typeface="Times New Roman" panose="02020603050405020304" pitchFamily="18" charset="0"/>
                <a:cs typeface="Times New Roman" panose="02020603050405020304" pitchFamily="18" charset="0"/>
              </a:rPr>
              <a:t>IT companies build or maintain software so that businesses run more smoothly. Anyone who builds or maintains software belongs to the IT sector.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7271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1000" fill="hold"/>
                                        <p:tgtEl>
                                          <p:spTgt spid="8"/>
                                        </p:tgtEl>
                                        <p:attrNameLst>
                                          <p:attrName>ppt_w</p:attrName>
                                        </p:attrNameLst>
                                      </p:cBhvr>
                                      <p:tavLst>
                                        <p:tav tm="0">
                                          <p:val>
                                            <p:fltVal val="0"/>
                                          </p:val>
                                        </p:tav>
                                        <p:tav tm="100000">
                                          <p:val>
                                            <p:strVal val="#ppt_w"/>
                                          </p:val>
                                        </p:tav>
                                      </p:tavLst>
                                    </p:anim>
                                    <p:anim calcmode="lin" valueType="num">
                                      <p:cBhvr>
                                        <p:cTn id="22" dur="1000" fill="hold"/>
                                        <p:tgtEl>
                                          <p:spTgt spid="8"/>
                                        </p:tgtEl>
                                        <p:attrNameLst>
                                          <p:attrName>ppt_h</p:attrName>
                                        </p:attrNameLst>
                                      </p:cBhvr>
                                      <p:tavLst>
                                        <p:tav tm="0">
                                          <p:val>
                                            <p:fltVal val="0"/>
                                          </p:val>
                                        </p:tav>
                                        <p:tav tm="100000">
                                          <p:val>
                                            <p:strVal val="#ppt_h"/>
                                          </p:val>
                                        </p:tav>
                                      </p:tavLst>
                                    </p:anim>
                                    <p:anim calcmode="lin" valueType="num">
                                      <p:cBhvr>
                                        <p:cTn id="23" dur="1000" fill="hold"/>
                                        <p:tgtEl>
                                          <p:spTgt spid="8"/>
                                        </p:tgtEl>
                                        <p:attrNameLst>
                                          <p:attrName>style.rotation</p:attrName>
                                        </p:attrNameLst>
                                      </p:cBhvr>
                                      <p:tavLst>
                                        <p:tav tm="0">
                                          <p:val>
                                            <p:fltVal val="90"/>
                                          </p:val>
                                        </p:tav>
                                        <p:tav tm="100000">
                                          <p:val>
                                            <p:fltVal val="0"/>
                                          </p:val>
                                        </p:tav>
                                      </p:tavLst>
                                    </p:anim>
                                    <p:animEffect transition="in" filter="fade">
                                      <p:cBhvr>
                                        <p:cTn id="24" dur="10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1000" fill="hold"/>
                                        <p:tgtEl>
                                          <p:spTgt spid="9"/>
                                        </p:tgtEl>
                                        <p:attrNameLst>
                                          <p:attrName>ppt_w</p:attrName>
                                        </p:attrNameLst>
                                      </p:cBhvr>
                                      <p:tavLst>
                                        <p:tav tm="0">
                                          <p:val>
                                            <p:fltVal val="0"/>
                                          </p:val>
                                        </p:tav>
                                        <p:tav tm="100000">
                                          <p:val>
                                            <p:strVal val="#ppt_w"/>
                                          </p:val>
                                        </p:tav>
                                      </p:tavLst>
                                    </p:anim>
                                    <p:anim calcmode="lin" valueType="num">
                                      <p:cBhvr>
                                        <p:cTn id="36" dur="1000" fill="hold"/>
                                        <p:tgtEl>
                                          <p:spTgt spid="9"/>
                                        </p:tgtEl>
                                        <p:attrNameLst>
                                          <p:attrName>ppt_h</p:attrName>
                                        </p:attrNameLst>
                                      </p:cBhvr>
                                      <p:tavLst>
                                        <p:tav tm="0">
                                          <p:val>
                                            <p:fltVal val="0"/>
                                          </p:val>
                                        </p:tav>
                                        <p:tav tm="100000">
                                          <p:val>
                                            <p:strVal val="#ppt_h"/>
                                          </p:val>
                                        </p:tav>
                                      </p:tavLst>
                                    </p:anim>
                                    <p:anim calcmode="lin" valueType="num">
                                      <p:cBhvr>
                                        <p:cTn id="37" dur="1000" fill="hold"/>
                                        <p:tgtEl>
                                          <p:spTgt spid="9"/>
                                        </p:tgtEl>
                                        <p:attrNameLst>
                                          <p:attrName>style.rotation</p:attrName>
                                        </p:attrNameLst>
                                      </p:cBhvr>
                                      <p:tavLst>
                                        <p:tav tm="0">
                                          <p:val>
                                            <p:fltVal val="90"/>
                                          </p:val>
                                        </p:tav>
                                        <p:tav tm="100000">
                                          <p:val>
                                            <p:fltVal val="0"/>
                                          </p:val>
                                        </p:tav>
                                      </p:tavLst>
                                    </p:anim>
                                    <p:animEffect transition="in" filter="fade">
                                      <p:cBhvr>
                                        <p:cTn id="38" dur="10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p:cTn id="49" dur="1000" fill="hold"/>
                                        <p:tgtEl>
                                          <p:spTgt spid="10"/>
                                        </p:tgtEl>
                                        <p:attrNameLst>
                                          <p:attrName>ppt_w</p:attrName>
                                        </p:attrNameLst>
                                      </p:cBhvr>
                                      <p:tavLst>
                                        <p:tav tm="0">
                                          <p:val>
                                            <p:fltVal val="0"/>
                                          </p:val>
                                        </p:tav>
                                        <p:tav tm="100000">
                                          <p:val>
                                            <p:strVal val="#ppt_w"/>
                                          </p:val>
                                        </p:tav>
                                      </p:tavLst>
                                    </p:anim>
                                    <p:anim calcmode="lin" valueType="num">
                                      <p:cBhvr>
                                        <p:cTn id="50" dur="1000" fill="hold"/>
                                        <p:tgtEl>
                                          <p:spTgt spid="10"/>
                                        </p:tgtEl>
                                        <p:attrNameLst>
                                          <p:attrName>ppt_h</p:attrName>
                                        </p:attrNameLst>
                                      </p:cBhvr>
                                      <p:tavLst>
                                        <p:tav tm="0">
                                          <p:val>
                                            <p:fltVal val="0"/>
                                          </p:val>
                                        </p:tav>
                                        <p:tav tm="100000">
                                          <p:val>
                                            <p:strVal val="#ppt_h"/>
                                          </p:val>
                                        </p:tav>
                                      </p:tavLst>
                                    </p:anim>
                                    <p:anim calcmode="lin" valueType="num">
                                      <p:cBhvr>
                                        <p:cTn id="51" dur="1000" fill="hold"/>
                                        <p:tgtEl>
                                          <p:spTgt spid="10"/>
                                        </p:tgtEl>
                                        <p:attrNameLst>
                                          <p:attrName>style.rotation</p:attrName>
                                        </p:attrNameLst>
                                      </p:cBhvr>
                                      <p:tavLst>
                                        <p:tav tm="0">
                                          <p:val>
                                            <p:fltVal val="90"/>
                                          </p:val>
                                        </p:tav>
                                        <p:tav tm="100000">
                                          <p:val>
                                            <p:fltVal val="0"/>
                                          </p:val>
                                        </p:tav>
                                      </p:tavLst>
                                    </p:anim>
                                    <p:animEffect transition="in" filter="fade">
                                      <p:cBhvr>
                                        <p:cTn id="52" dur="10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ppt_x</p:attrName>
                                        </p:attrNameLst>
                                      </p:cBhvr>
                                      <p:tavLst>
                                        <p:tav tm="0">
                                          <p:val>
                                            <p:strVal val="#ppt_x"/>
                                          </p:val>
                                        </p:tav>
                                        <p:tav tm="100000">
                                          <p:val>
                                            <p:strVal val="#ppt_x"/>
                                          </p:val>
                                        </p:tav>
                                      </p:tavLst>
                                    </p:anim>
                                    <p:anim calcmode="lin" valueType="num">
                                      <p:cBhvr additive="base">
                                        <p:cTn id="5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p:cTn id="63" dur="1000" fill="hold"/>
                                        <p:tgtEl>
                                          <p:spTgt spid="12"/>
                                        </p:tgtEl>
                                        <p:attrNameLst>
                                          <p:attrName>ppt_w</p:attrName>
                                        </p:attrNameLst>
                                      </p:cBhvr>
                                      <p:tavLst>
                                        <p:tav tm="0">
                                          <p:val>
                                            <p:fltVal val="0"/>
                                          </p:val>
                                        </p:tav>
                                        <p:tav tm="100000">
                                          <p:val>
                                            <p:strVal val="#ppt_w"/>
                                          </p:val>
                                        </p:tav>
                                      </p:tavLst>
                                    </p:anim>
                                    <p:anim calcmode="lin" valueType="num">
                                      <p:cBhvr>
                                        <p:cTn id="64" dur="1000" fill="hold"/>
                                        <p:tgtEl>
                                          <p:spTgt spid="12"/>
                                        </p:tgtEl>
                                        <p:attrNameLst>
                                          <p:attrName>ppt_h</p:attrName>
                                        </p:attrNameLst>
                                      </p:cBhvr>
                                      <p:tavLst>
                                        <p:tav tm="0">
                                          <p:val>
                                            <p:fltVal val="0"/>
                                          </p:val>
                                        </p:tav>
                                        <p:tav tm="100000">
                                          <p:val>
                                            <p:strVal val="#ppt_h"/>
                                          </p:val>
                                        </p:tav>
                                      </p:tavLst>
                                    </p:anim>
                                    <p:anim calcmode="lin" valueType="num">
                                      <p:cBhvr>
                                        <p:cTn id="65" dur="1000" fill="hold"/>
                                        <p:tgtEl>
                                          <p:spTgt spid="12"/>
                                        </p:tgtEl>
                                        <p:attrNameLst>
                                          <p:attrName>style.rotation</p:attrName>
                                        </p:attrNameLst>
                                      </p:cBhvr>
                                      <p:tavLst>
                                        <p:tav tm="0">
                                          <p:val>
                                            <p:fltVal val="90"/>
                                          </p:val>
                                        </p:tav>
                                        <p:tav tm="100000">
                                          <p:val>
                                            <p:fltVal val="0"/>
                                          </p:val>
                                        </p:tav>
                                      </p:tavLst>
                                    </p:anim>
                                    <p:animEffect transition="in" filter="fade">
                                      <p:cBhvr>
                                        <p:cTn id="66" dur="10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4"/>
                                        </p:tgtEl>
                                        <p:attrNameLst>
                                          <p:attrName>style.visibility</p:attrName>
                                        </p:attrNameLst>
                                      </p:cBhvr>
                                      <p:to>
                                        <p:strVal val="visible"/>
                                      </p:to>
                                    </p:set>
                                    <p:anim calcmode="lin" valueType="num">
                                      <p:cBhvr additive="base">
                                        <p:cTn id="71" dur="500" fill="hold"/>
                                        <p:tgtEl>
                                          <p:spTgt spid="14"/>
                                        </p:tgtEl>
                                        <p:attrNameLst>
                                          <p:attrName>ppt_x</p:attrName>
                                        </p:attrNameLst>
                                      </p:cBhvr>
                                      <p:tavLst>
                                        <p:tav tm="0">
                                          <p:val>
                                            <p:strVal val="#ppt_x"/>
                                          </p:val>
                                        </p:tav>
                                        <p:tav tm="100000">
                                          <p:val>
                                            <p:strVal val="#ppt_x"/>
                                          </p:val>
                                        </p:tav>
                                      </p:tavLst>
                                    </p:anim>
                                    <p:anim calcmode="lin" valueType="num">
                                      <p:cBhvr additive="base">
                                        <p:cTn id="7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500" fill="hold"/>
                                        <p:tgtEl>
                                          <p:spTgt spid="16"/>
                                        </p:tgtEl>
                                        <p:attrNameLst>
                                          <p:attrName>ppt_x</p:attrName>
                                        </p:attrNameLst>
                                      </p:cBhvr>
                                      <p:tavLst>
                                        <p:tav tm="0">
                                          <p:val>
                                            <p:strVal val="#ppt_x"/>
                                          </p:val>
                                        </p:tav>
                                        <p:tav tm="100000">
                                          <p:val>
                                            <p:strVal val="#ppt_x"/>
                                          </p:val>
                                        </p:tav>
                                      </p:tavLst>
                                    </p:anim>
                                    <p:anim calcmode="lin" valueType="num">
                                      <p:cBhvr additive="base">
                                        <p:cTn id="7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1" presetClass="entr" presetSubtype="1" fill="hold" grpId="0" nodeType="click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wheel(1)">
                                      <p:cBhvr>
                                        <p:cTn id="83" dur="2000"/>
                                        <p:tgtEl>
                                          <p:spTgt spid="17"/>
                                        </p:tgtEl>
                                      </p:cBhvr>
                                    </p:animEffect>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1000"/>
                                        <p:tgtEl>
                                          <p:spTgt spid="18"/>
                                        </p:tgtEl>
                                      </p:cBhvr>
                                    </p:animEffect>
                                    <p:anim calcmode="lin" valueType="num">
                                      <p:cBhvr>
                                        <p:cTn id="89" dur="1000" fill="hold"/>
                                        <p:tgtEl>
                                          <p:spTgt spid="18"/>
                                        </p:tgtEl>
                                        <p:attrNameLst>
                                          <p:attrName>ppt_x</p:attrName>
                                        </p:attrNameLst>
                                      </p:cBhvr>
                                      <p:tavLst>
                                        <p:tav tm="0">
                                          <p:val>
                                            <p:strVal val="#ppt_x"/>
                                          </p:val>
                                        </p:tav>
                                        <p:tav tm="100000">
                                          <p:val>
                                            <p:strVal val="#ppt_x"/>
                                          </p:val>
                                        </p:tav>
                                      </p:tavLst>
                                    </p:anim>
                                    <p:anim calcmode="lin" valueType="num">
                                      <p:cBhvr>
                                        <p:cTn id="9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31" presetClass="entr" presetSubtype="0" fill="hold" nodeType="clickEffect">
                                  <p:stCondLst>
                                    <p:cond delay="0"/>
                                  </p:stCondLst>
                                  <p:childTnLst>
                                    <p:set>
                                      <p:cBhvr>
                                        <p:cTn id="94" dur="1" fill="hold">
                                          <p:stCondLst>
                                            <p:cond delay="0"/>
                                          </p:stCondLst>
                                        </p:cTn>
                                        <p:tgtEl>
                                          <p:spTgt spid="19"/>
                                        </p:tgtEl>
                                        <p:attrNameLst>
                                          <p:attrName>style.visibility</p:attrName>
                                        </p:attrNameLst>
                                      </p:cBhvr>
                                      <p:to>
                                        <p:strVal val="visible"/>
                                      </p:to>
                                    </p:set>
                                    <p:anim calcmode="lin" valueType="num">
                                      <p:cBhvr>
                                        <p:cTn id="95" dur="1000" fill="hold"/>
                                        <p:tgtEl>
                                          <p:spTgt spid="19"/>
                                        </p:tgtEl>
                                        <p:attrNameLst>
                                          <p:attrName>ppt_w</p:attrName>
                                        </p:attrNameLst>
                                      </p:cBhvr>
                                      <p:tavLst>
                                        <p:tav tm="0">
                                          <p:val>
                                            <p:fltVal val="0"/>
                                          </p:val>
                                        </p:tav>
                                        <p:tav tm="100000">
                                          <p:val>
                                            <p:strVal val="#ppt_w"/>
                                          </p:val>
                                        </p:tav>
                                      </p:tavLst>
                                    </p:anim>
                                    <p:anim calcmode="lin" valueType="num">
                                      <p:cBhvr>
                                        <p:cTn id="96" dur="1000" fill="hold"/>
                                        <p:tgtEl>
                                          <p:spTgt spid="19"/>
                                        </p:tgtEl>
                                        <p:attrNameLst>
                                          <p:attrName>ppt_h</p:attrName>
                                        </p:attrNameLst>
                                      </p:cBhvr>
                                      <p:tavLst>
                                        <p:tav tm="0">
                                          <p:val>
                                            <p:fltVal val="0"/>
                                          </p:val>
                                        </p:tav>
                                        <p:tav tm="100000">
                                          <p:val>
                                            <p:strVal val="#ppt_h"/>
                                          </p:val>
                                        </p:tav>
                                      </p:tavLst>
                                    </p:anim>
                                    <p:anim calcmode="lin" valueType="num">
                                      <p:cBhvr>
                                        <p:cTn id="97" dur="1000" fill="hold"/>
                                        <p:tgtEl>
                                          <p:spTgt spid="19"/>
                                        </p:tgtEl>
                                        <p:attrNameLst>
                                          <p:attrName>style.rotation</p:attrName>
                                        </p:attrNameLst>
                                      </p:cBhvr>
                                      <p:tavLst>
                                        <p:tav tm="0">
                                          <p:val>
                                            <p:fltVal val="90"/>
                                          </p:val>
                                        </p:tav>
                                        <p:tav tm="100000">
                                          <p:val>
                                            <p:fltVal val="0"/>
                                          </p:val>
                                        </p:tav>
                                      </p:tavLst>
                                    </p:anim>
                                    <p:animEffect transition="in" filter="fade">
                                      <p:cBhvr>
                                        <p:cTn id="98" dur="1000"/>
                                        <p:tgtEl>
                                          <p:spTgt spid="19"/>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20"/>
                                        </p:tgtEl>
                                        <p:attrNameLst>
                                          <p:attrName>style.visibility</p:attrName>
                                        </p:attrNameLst>
                                      </p:cBhvr>
                                      <p:to>
                                        <p:strVal val="visible"/>
                                      </p:to>
                                    </p:set>
                                    <p:anim calcmode="lin" valueType="num">
                                      <p:cBhvr additive="base">
                                        <p:cTn id="103" dur="500" fill="hold"/>
                                        <p:tgtEl>
                                          <p:spTgt spid="20"/>
                                        </p:tgtEl>
                                        <p:attrNameLst>
                                          <p:attrName>ppt_x</p:attrName>
                                        </p:attrNameLst>
                                      </p:cBhvr>
                                      <p:tavLst>
                                        <p:tav tm="0">
                                          <p:val>
                                            <p:strVal val="#ppt_x"/>
                                          </p:val>
                                        </p:tav>
                                        <p:tav tm="100000">
                                          <p:val>
                                            <p:strVal val="#ppt_x"/>
                                          </p:val>
                                        </p:tav>
                                      </p:tavLst>
                                    </p:anim>
                                    <p:anim calcmode="lin" valueType="num">
                                      <p:cBhvr additive="base">
                                        <p:cTn id="10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1" presetClass="entr" presetSubtype="1" fill="hold" grpId="0" nodeType="clickEffect">
                                  <p:stCondLst>
                                    <p:cond delay="0"/>
                                  </p:stCondLst>
                                  <p:childTnLst>
                                    <p:set>
                                      <p:cBhvr>
                                        <p:cTn id="108" dur="1" fill="hold">
                                          <p:stCondLst>
                                            <p:cond delay="0"/>
                                          </p:stCondLst>
                                        </p:cTn>
                                        <p:tgtEl>
                                          <p:spTgt spid="21"/>
                                        </p:tgtEl>
                                        <p:attrNameLst>
                                          <p:attrName>style.visibility</p:attrName>
                                        </p:attrNameLst>
                                      </p:cBhvr>
                                      <p:to>
                                        <p:strVal val="visible"/>
                                      </p:to>
                                    </p:set>
                                    <p:animEffect transition="in" filter="wheel(1)">
                                      <p:cBhvr>
                                        <p:cTn id="109"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3" grpId="0" animBg="1"/>
      <p:bldP spid="15" grpId="0" animBg="1"/>
      <p:bldP spid="14" grpId="0"/>
      <p:bldP spid="16" grpId="0"/>
      <p:bldP spid="17" grpId="0"/>
      <p:bldP spid="18" grpId="0"/>
      <p:bldP spid="20"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901874"/>
            <a:ext cx="4747365"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Design Thinking in General</a:t>
            </a:r>
            <a:endParaRPr lang="en-IN"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821683" y="1605093"/>
            <a:ext cx="6448425" cy="3171825"/>
          </a:xfrm>
          <a:prstGeom prst="rect">
            <a:avLst/>
          </a:prstGeom>
        </p:spPr>
      </p:pic>
      <p:sp>
        <p:nvSpPr>
          <p:cNvPr id="6" name="TextBox 5">
            <a:extLst>
              <a:ext uri="{FF2B5EF4-FFF2-40B4-BE49-F238E27FC236}">
                <a16:creationId xmlns:a16="http://schemas.microsoft.com/office/drawing/2014/main" xmlns="" id="{30C693D7-94AD-4295-B3E2-49C6BBE462AF}"/>
              </a:ext>
            </a:extLst>
          </p:cNvPr>
          <p:cNvSpPr txBox="1"/>
          <p:nvPr/>
        </p:nvSpPr>
        <p:spPr>
          <a:xfrm>
            <a:off x="6158" y="-1540"/>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Tree>
    <p:extLst>
      <p:ext uri="{BB962C8B-B14F-4D97-AF65-F5344CB8AC3E}">
        <p14:creationId xmlns:p14="http://schemas.microsoft.com/office/powerpoint/2010/main" val="19440184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6158" y="-1540"/>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pic>
        <p:nvPicPr>
          <p:cNvPr id="8" name="Picture 7"/>
          <p:cNvPicPr>
            <a:picLocks noChangeAspect="1"/>
          </p:cNvPicPr>
          <p:nvPr/>
        </p:nvPicPr>
        <p:blipFill>
          <a:blip r:embed="rId2"/>
          <a:stretch>
            <a:fillRect/>
          </a:stretch>
        </p:blipFill>
        <p:spPr>
          <a:xfrm>
            <a:off x="2197386" y="1506579"/>
            <a:ext cx="7287436" cy="4394072"/>
          </a:xfrm>
          <a:prstGeom prst="rect">
            <a:avLst/>
          </a:prstGeom>
        </p:spPr>
      </p:pic>
    </p:spTree>
    <p:extLst>
      <p:ext uri="{BB962C8B-B14F-4D97-AF65-F5344CB8AC3E}">
        <p14:creationId xmlns:p14="http://schemas.microsoft.com/office/powerpoint/2010/main" val="406710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82294" y="1404936"/>
            <a:ext cx="6589445" cy="4896000"/>
          </a:xfrm>
          <a:prstGeom prst="rect">
            <a:avLst/>
          </a:prstGeom>
        </p:spPr>
      </p:pic>
      <p:sp>
        <p:nvSpPr>
          <p:cNvPr id="5" name="TextBox 4">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6" name="TextBox 5"/>
          <p:cNvSpPr txBox="1"/>
          <p:nvPr/>
        </p:nvSpPr>
        <p:spPr>
          <a:xfrm>
            <a:off x="0" y="864296"/>
            <a:ext cx="3682652" cy="830997"/>
          </a:xfrm>
          <a:prstGeom prst="rect">
            <a:avLst/>
          </a:prstGeom>
          <a:solidFill>
            <a:schemeClr val="accent2">
              <a:lumMod val="20000"/>
              <a:lumOff val="80000"/>
            </a:schemeClr>
          </a:solidFill>
        </p:spPr>
        <p:txBody>
          <a:bodyPr wrap="square" rtlCol="0">
            <a:spAutoFit/>
          </a:bodyPr>
          <a:lstStyle/>
          <a:p>
            <a:pPr algn="ctr"/>
            <a:r>
              <a:rPr lang="en-IN" sz="2400" dirty="0" smtClean="0">
                <a:latin typeface="Times New Roman" panose="02020603050405020304" pitchFamily="18" charset="0"/>
                <a:cs typeface="Times New Roman" panose="02020603050405020304" pitchFamily="18" charset="0"/>
              </a:rPr>
              <a:t>Agile model of Project Management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83225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51562"/>
            <a:ext cx="4559474" cy="400110"/>
          </a:xfrm>
          <a:prstGeom prst="rect">
            <a:avLst/>
          </a:prstGeom>
          <a:solidFill>
            <a:schemeClr val="accent2">
              <a:lumMod val="20000"/>
              <a:lumOff val="80000"/>
            </a:schemeClr>
          </a:solid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Design thinking and Agile methodology</a:t>
            </a:r>
            <a:endParaRPr lang="en-IN" sz="2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87890" y="1565753"/>
            <a:ext cx="710225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30-35% or even 50% of the IT projects fail according to research</a:t>
            </a:r>
            <a:endParaRPr lang="en-IN" sz="20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87890" y="2003628"/>
            <a:ext cx="10809962"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Agile improves success rate by almost double by promoting better collaboration and communication</a:t>
            </a:r>
            <a:endParaRPr lang="en-IN" sz="2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87889" y="2441503"/>
            <a:ext cx="11311003"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But Agile only provides way to solve problems and how can 1 decide which is the right problem to solve</a:t>
            </a:r>
            <a:endParaRPr lang="en-IN" sz="2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87889" y="2879378"/>
            <a:ext cx="710225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This is where Design thinking plays a vital role</a:t>
            </a:r>
            <a:endParaRPr lang="en-IN" sz="20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187888" y="3317253"/>
            <a:ext cx="12004112" cy="707886"/>
          </a:xfrm>
          <a:prstGeom prst="rect">
            <a:avLst/>
          </a:prstGeom>
          <a:noFill/>
        </p:spPr>
        <p:txBody>
          <a:bodyPr wrap="square" rtlCol="0">
            <a:spAutoFit/>
          </a:bodyPr>
          <a:lstStyle/>
          <a:p>
            <a:pPr algn="just"/>
            <a:r>
              <a:rPr lang="en-IN" sz="2000" dirty="0" smtClean="0">
                <a:latin typeface="Times New Roman" panose="02020603050405020304" pitchFamily="18" charset="0"/>
                <a:cs typeface="Times New Roman" panose="02020603050405020304" pitchFamily="18" charset="0"/>
              </a:rPr>
              <a:t>Combining both is not an easy task and requires culture shift (new way of thinking and doing) and one has to get accustomed to this cultural shift</a:t>
            </a:r>
            <a:endParaRPr lang="en-IN" sz="2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87888" y="4025139"/>
            <a:ext cx="710225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This combination value people over processes</a:t>
            </a:r>
            <a:endParaRPr lang="en-IN" sz="2000"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187888" y="4425249"/>
            <a:ext cx="12004112" cy="707886"/>
          </a:xfrm>
          <a:prstGeom prst="rect">
            <a:avLst/>
          </a:prstGeom>
          <a:noFill/>
        </p:spPr>
        <p:txBody>
          <a:bodyPr wrap="square" rtlCol="0">
            <a:spAutoFit/>
          </a:bodyPr>
          <a:lstStyle/>
          <a:p>
            <a:pPr algn="just"/>
            <a:r>
              <a:rPr lang="en-IN" sz="2000" dirty="0" smtClean="0">
                <a:latin typeface="Times New Roman" panose="02020603050405020304" pitchFamily="18" charset="0"/>
                <a:cs typeface="Times New Roman" panose="02020603050405020304" pitchFamily="18" charset="0"/>
              </a:rPr>
              <a:t>Organizations have to allocate right people for the projects and they should ensure cultural compatibility between teams and the way Design thinking and Agile methodology work</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516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1" y="926926"/>
            <a:ext cx="7878871" cy="400110"/>
          </a:xfrm>
          <a:prstGeom prst="rect">
            <a:avLst/>
          </a:prstGeom>
          <a:solidFill>
            <a:schemeClr val="accent2">
              <a:lumMod val="20000"/>
              <a:lumOff val="80000"/>
            </a:schemeClr>
          </a:solid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Best practices for combining Design thinking and Agile methodology</a:t>
            </a:r>
            <a:endParaRPr lang="en-IN" sz="2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002082" y="1716066"/>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Invest in user research</a:t>
            </a:r>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002082" y="2341726"/>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A clearly defined problem statement</a:t>
            </a:r>
            <a:endParaRPr lang="en-IN"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002082" y="2919825"/>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Build a productive team culture</a:t>
            </a:r>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002082" y="3497924"/>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Optimal use of Design thinking</a:t>
            </a:r>
            <a:endParaRPr lang="en-IN"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002082" y="4074204"/>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Design patterns and periodic testing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51462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pic>
        <p:nvPicPr>
          <p:cNvPr id="5122" name="Picture 2" descr="What is Waterfall Model in SDLC? Advantages and Disadvant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5389" y="1570341"/>
            <a:ext cx="4442203" cy="3996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0" y="926926"/>
            <a:ext cx="3256767" cy="461665"/>
          </a:xfrm>
          <a:prstGeom prst="rect">
            <a:avLst/>
          </a:prstGeom>
          <a:solidFill>
            <a:schemeClr val="accent2">
              <a:lumMod val="20000"/>
              <a:lumOff val="80000"/>
            </a:schemeClr>
          </a:solidFill>
        </p:spPr>
        <p:txBody>
          <a:bodyPr wrap="square" rtlCol="0">
            <a:spAutoFit/>
          </a:bodyPr>
          <a:lstStyle/>
          <a:p>
            <a:pPr algn="ctr"/>
            <a:r>
              <a:rPr lang="en-IN" sz="2400" dirty="0" smtClean="0">
                <a:latin typeface="Times New Roman" panose="02020603050405020304" pitchFamily="18" charset="0"/>
                <a:cs typeface="Times New Roman" panose="02020603050405020304" pitchFamily="18" charset="0"/>
              </a:rPr>
              <a:t>Waterfall Model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6565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pic>
        <p:nvPicPr>
          <p:cNvPr id="7170" name="Picture 2" descr="➤ Agile Software Development Process – Everything You Need to Know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8538" y="1085850"/>
            <a:ext cx="6858000" cy="577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8573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grpSp>
        <p:nvGrpSpPr>
          <p:cNvPr id="22" name="Group 21"/>
          <p:cNvGrpSpPr/>
          <p:nvPr/>
        </p:nvGrpSpPr>
        <p:grpSpPr>
          <a:xfrm>
            <a:off x="7515616" y="1402914"/>
            <a:ext cx="3269294" cy="1375694"/>
            <a:chOff x="7515616" y="1402914"/>
            <a:chExt cx="3269294" cy="1375694"/>
          </a:xfrm>
          <a:solidFill>
            <a:schemeClr val="accent2">
              <a:lumMod val="20000"/>
              <a:lumOff val="80000"/>
            </a:schemeClr>
          </a:solidFill>
        </p:grpSpPr>
        <p:sp>
          <p:nvSpPr>
            <p:cNvPr id="5" name="Rectangle 4"/>
            <p:cNvSpPr/>
            <p:nvPr/>
          </p:nvSpPr>
          <p:spPr>
            <a:xfrm>
              <a:off x="7515616" y="1402914"/>
              <a:ext cx="3269294" cy="13756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7628351" y="1578279"/>
              <a:ext cx="3031298" cy="1200329"/>
            </a:xfrm>
            <a:prstGeom prst="rect">
              <a:avLst/>
            </a:prstGeom>
            <a:grpFill/>
          </p:spPr>
          <p:txBody>
            <a:bodyPr wrap="square" rtlCol="0">
              <a:spAutoFit/>
            </a:bodyPr>
            <a:lstStyle/>
            <a:p>
              <a:pPr algn="just"/>
              <a:r>
                <a:rPr lang="en-IN" dirty="0" smtClean="0"/>
                <a:t>Agile is an iterative and incremental method of managing development and design</a:t>
              </a:r>
              <a:endParaRPr lang="en-IN" dirty="0"/>
            </a:p>
          </p:txBody>
        </p:sp>
      </p:grpSp>
      <p:grpSp>
        <p:nvGrpSpPr>
          <p:cNvPr id="17" name="Group 16"/>
          <p:cNvGrpSpPr/>
          <p:nvPr/>
        </p:nvGrpSpPr>
        <p:grpSpPr>
          <a:xfrm>
            <a:off x="4221271" y="1941534"/>
            <a:ext cx="2141951" cy="1265129"/>
            <a:chOff x="4221271" y="1941534"/>
            <a:chExt cx="2141951" cy="1265129"/>
          </a:xfrm>
        </p:grpSpPr>
        <p:sp>
          <p:nvSpPr>
            <p:cNvPr id="7" name="Oval 6"/>
            <p:cNvSpPr/>
            <p:nvPr/>
          </p:nvSpPr>
          <p:spPr>
            <a:xfrm>
              <a:off x="4221271" y="1941534"/>
              <a:ext cx="2141951" cy="1265129"/>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8" name="TextBox 7"/>
            <p:cNvSpPr txBox="1"/>
            <p:nvPr/>
          </p:nvSpPr>
          <p:spPr>
            <a:xfrm>
              <a:off x="4559473" y="2281710"/>
              <a:ext cx="1465545" cy="584775"/>
            </a:xfrm>
            <a:prstGeom prst="rect">
              <a:avLst/>
            </a:prstGeom>
            <a:noFill/>
          </p:spPr>
          <p:txBody>
            <a:bodyPr wrap="square" rtlCol="0">
              <a:spAutoFit/>
            </a:bodyPr>
            <a:lstStyle/>
            <a:p>
              <a:pPr algn="ctr"/>
              <a:r>
                <a:rPr lang="en-IN" sz="3200" dirty="0" smtClean="0">
                  <a:latin typeface="Times New Roman" panose="02020603050405020304" pitchFamily="18" charset="0"/>
                  <a:cs typeface="Times New Roman" panose="02020603050405020304" pitchFamily="18" charset="0"/>
                </a:rPr>
                <a:t>Test</a:t>
              </a:r>
              <a:endParaRPr lang="en-IN" sz="3200" dirty="0">
                <a:latin typeface="Times New Roman" panose="02020603050405020304" pitchFamily="18" charset="0"/>
                <a:cs typeface="Times New Roman" panose="02020603050405020304" pitchFamily="18" charset="0"/>
              </a:endParaRPr>
            </a:p>
          </p:txBody>
        </p:sp>
      </p:grpSp>
      <p:grpSp>
        <p:nvGrpSpPr>
          <p:cNvPr id="18" name="Group 17"/>
          <p:cNvGrpSpPr/>
          <p:nvPr/>
        </p:nvGrpSpPr>
        <p:grpSpPr>
          <a:xfrm>
            <a:off x="7177412" y="3188974"/>
            <a:ext cx="2141951" cy="1265129"/>
            <a:chOff x="6853824" y="3321485"/>
            <a:chExt cx="2141951" cy="1265129"/>
          </a:xfrm>
        </p:grpSpPr>
        <p:sp>
          <p:nvSpPr>
            <p:cNvPr id="9" name="Oval 8"/>
            <p:cNvSpPr/>
            <p:nvPr/>
          </p:nvSpPr>
          <p:spPr>
            <a:xfrm>
              <a:off x="6853824" y="3321485"/>
              <a:ext cx="2141951" cy="1265129"/>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0" name="TextBox 9"/>
            <p:cNvSpPr txBox="1"/>
            <p:nvPr/>
          </p:nvSpPr>
          <p:spPr>
            <a:xfrm>
              <a:off x="7192026" y="3667779"/>
              <a:ext cx="1465545" cy="584775"/>
            </a:xfrm>
            <a:prstGeom prst="rect">
              <a:avLst/>
            </a:prstGeom>
            <a:noFill/>
          </p:spPr>
          <p:txBody>
            <a:bodyPr wrap="square" rtlCol="0">
              <a:spAutoFit/>
            </a:bodyPr>
            <a:lstStyle/>
            <a:p>
              <a:pPr algn="ctr"/>
              <a:r>
                <a:rPr lang="en-IN" sz="3200" dirty="0" smtClean="0">
                  <a:latin typeface="Times New Roman" panose="02020603050405020304" pitchFamily="18" charset="0"/>
                  <a:cs typeface="Times New Roman" panose="02020603050405020304" pitchFamily="18" charset="0"/>
                </a:rPr>
                <a:t>Release</a:t>
              </a:r>
              <a:endParaRPr lang="en-IN" sz="3200" dirty="0">
                <a:latin typeface="Times New Roman" panose="02020603050405020304" pitchFamily="18" charset="0"/>
                <a:cs typeface="Times New Roman" panose="02020603050405020304" pitchFamily="18" charset="0"/>
              </a:endParaRPr>
            </a:p>
          </p:txBody>
        </p:sp>
      </p:grpSp>
      <p:grpSp>
        <p:nvGrpSpPr>
          <p:cNvPr id="19" name="Group 18"/>
          <p:cNvGrpSpPr/>
          <p:nvPr/>
        </p:nvGrpSpPr>
        <p:grpSpPr>
          <a:xfrm>
            <a:off x="5373665" y="5041663"/>
            <a:ext cx="2141951" cy="1265129"/>
            <a:chOff x="5373665" y="5041663"/>
            <a:chExt cx="2141951" cy="1265129"/>
          </a:xfrm>
        </p:grpSpPr>
        <p:sp>
          <p:nvSpPr>
            <p:cNvPr id="11" name="Oval 10"/>
            <p:cNvSpPr/>
            <p:nvPr/>
          </p:nvSpPr>
          <p:spPr>
            <a:xfrm>
              <a:off x="5373665" y="5041663"/>
              <a:ext cx="2141951" cy="1265129"/>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2" name="TextBox 11"/>
            <p:cNvSpPr txBox="1"/>
            <p:nvPr/>
          </p:nvSpPr>
          <p:spPr>
            <a:xfrm>
              <a:off x="5711867" y="5381839"/>
              <a:ext cx="1465545" cy="584775"/>
            </a:xfrm>
            <a:prstGeom prst="rect">
              <a:avLst/>
            </a:prstGeom>
            <a:noFill/>
          </p:spPr>
          <p:txBody>
            <a:bodyPr wrap="square" rtlCol="0">
              <a:spAutoFit/>
            </a:bodyPr>
            <a:lstStyle/>
            <a:p>
              <a:pPr algn="ctr"/>
              <a:r>
                <a:rPr lang="en-IN" sz="3200" dirty="0" smtClean="0">
                  <a:latin typeface="Times New Roman" panose="02020603050405020304" pitchFamily="18" charset="0"/>
                  <a:cs typeface="Times New Roman" panose="02020603050405020304" pitchFamily="18" charset="0"/>
                </a:rPr>
                <a:t>Design</a:t>
              </a:r>
              <a:endParaRPr lang="en-IN" sz="3200" dirty="0">
                <a:latin typeface="Times New Roman" panose="02020603050405020304" pitchFamily="18" charset="0"/>
                <a:cs typeface="Times New Roman" panose="02020603050405020304" pitchFamily="18" charset="0"/>
              </a:endParaRPr>
            </a:p>
          </p:txBody>
        </p:sp>
      </p:grpSp>
      <p:grpSp>
        <p:nvGrpSpPr>
          <p:cNvPr id="20" name="Group 19"/>
          <p:cNvGrpSpPr/>
          <p:nvPr/>
        </p:nvGrpSpPr>
        <p:grpSpPr>
          <a:xfrm>
            <a:off x="2079320" y="4701485"/>
            <a:ext cx="2141951" cy="1265129"/>
            <a:chOff x="2079320" y="4701485"/>
            <a:chExt cx="2141951" cy="1265129"/>
          </a:xfrm>
        </p:grpSpPr>
        <p:sp>
          <p:nvSpPr>
            <p:cNvPr id="13" name="Oval 12"/>
            <p:cNvSpPr/>
            <p:nvPr/>
          </p:nvSpPr>
          <p:spPr>
            <a:xfrm>
              <a:off x="2079320" y="4701485"/>
              <a:ext cx="2141951" cy="1265129"/>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4" name="TextBox 13"/>
            <p:cNvSpPr txBox="1"/>
            <p:nvPr/>
          </p:nvSpPr>
          <p:spPr>
            <a:xfrm>
              <a:off x="2417522" y="5041661"/>
              <a:ext cx="1465545" cy="584775"/>
            </a:xfrm>
            <a:prstGeom prst="rect">
              <a:avLst/>
            </a:prstGeom>
            <a:noFill/>
          </p:spPr>
          <p:txBody>
            <a:bodyPr wrap="square" rtlCol="0">
              <a:spAutoFit/>
            </a:bodyPr>
            <a:lstStyle/>
            <a:p>
              <a:pPr algn="ctr"/>
              <a:r>
                <a:rPr lang="en-IN" sz="3200" dirty="0" smtClean="0">
                  <a:latin typeface="Times New Roman" panose="02020603050405020304" pitchFamily="18" charset="0"/>
                  <a:cs typeface="Times New Roman" panose="02020603050405020304" pitchFamily="18" charset="0"/>
                </a:rPr>
                <a:t>Build</a:t>
              </a:r>
              <a:endParaRPr lang="en-IN" sz="3200" dirty="0">
                <a:latin typeface="Times New Roman" panose="02020603050405020304" pitchFamily="18" charset="0"/>
                <a:cs typeface="Times New Roman" panose="02020603050405020304" pitchFamily="18" charset="0"/>
              </a:endParaRPr>
            </a:p>
          </p:txBody>
        </p:sp>
      </p:grpSp>
      <p:grpSp>
        <p:nvGrpSpPr>
          <p:cNvPr id="21" name="Group 20"/>
          <p:cNvGrpSpPr/>
          <p:nvPr/>
        </p:nvGrpSpPr>
        <p:grpSpPr>
          <a:xfrm>
            <a:off x="1177446" y="2633704"/>
            <a:ext cx="2141951" cy="1265129"/>
            <a:chOff x="1177446" y="2633704"/>
            <a:chExt cx="2141951" cy="1265129"/>
          </a:xfrm>
        </p:grpSpPr>
        <p:sp>
          <p:nvSpPr>
            <p:cNvPr id="15" name="Oval 14"/>
            <p:cNvSpPr/>
            <p:nvPr/>
          </p:nvSpPr>
          <p:spPr>
            <a:xfrm>
              <a:off x="1177446" y="2633704"/>
              <a:ext cx="2141951" cy="1265129"/>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6" name="TextBox 15"/>
            <p:cNvSpPr txBox="1"/>
            <p:nvPr/>
          </p:nvSpPr>
          <p:spPr>
            <a:xfrm>
              <a:off x="1177446" y="2923776"/>
              <a:ext cx="1991639" cy="584775"/>
            </a:xfrm>
            <a:prstGeom prst="rect">
              <a:avLst/>
            </a:prstGeom>
            <a:noFill/>
          </p:spPr>
          <p:txBody>
            <a:bodyPr wrap="square" rtlCol="0">
              <a:spAutoFit/>
            </a:bodyPr>
            <a:lstStyle/>
            <a:p>
              <a:pPr algn="ctr"/>
              <a:r>
                <a:rPr lang="en-IN" sz="3200" dirty="0" smtClean="0">
                  <a:latin typeface="Times New Roman" panose="02020603050405020304" pitchFamily="18" charset="0"/>
                  <a:cs typeface="Times New Roman" panose="02020603050405020304" pitchFamily="18" charset="0"/>
                </a:rPr>
                <a:t>Configure</a:t>
              </a:r>
              <a:endParaRPr lang="en-IN" sz="3200" dirty="0">
                <a:latin typeface="Times New Roman" panose="02020603050405020304" pitchFamily="18" charset="0"/>
                <a:cs typeface="Times New Roman" panose="02020603050405020304" pitchFamily="18" charset="0"/>
              </a:endParaRPr>
            </a:p>
          </p:txBody>
        </p:sp>
      </p:grpSp>
      <p:sp>
        <p:nvSpPr>
          <p:cNvPr id="23" name="Right Arrow 22"/>
          <p:cNvSpPr/>
          <p:nvPr/>
        </p:nvSpPr>
        <p:spPr>
          <a:xfrm rot="2173450">
            <a:off x="6363222" y="2866485"/>
            <a:ext cx="901874" cy="3401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ight Arrow 23"/>
          <p:cNvSpPr/>
          <p:nvPr/>
        </p:nvSpPr>
        <p:spPr>
          <a:xfrm rot="7702418">
            <a:off x="7155351" y="4769092"/>
            <a:ext cx="901874" cy="3401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ight Arrow 24"/>
          <p:cNvSpPr/>
          <p:nvPr/>
        </p:nvSpPr>
        <p:spPr>
          <a:xfrm rot="11654215">
            <a:off x="4118421" y="5686863"/>
            <a:ext cx="1141157" cy="4266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ight Arrow 25"/>
          <p:cNvSpPr/>
          <p:nvPr/>
        </p:nvSpPr>
        <p:spPr>
          <a:xfrm rot="15759975">
            <a:off x="1681689" y="4250747"/>
            <a:ext cx="901874" cy="3401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ight Arrow 26"/>
          <p:cNvSpPr/>
          <p:nvPr/>
        </p:nvSpPr>
        <p:spPr>
          <a:xfrm rot="20847925">
            <a:off x="2826637" y="2271261"/>
            <a:ext cx="1260390" cy="2212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ight Arrow 27"/>
          <p:cNvSpPr/>
          <p:nvPr/>
        </p:nvSpPr>
        <p:spPr>
          <a:xfrm rot="9190591">
            <a:off x="6332834" y="1983295"/>
            <a:ext cx="1194251" cy="3076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7911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1000" fill="hold"/>
                                        <p:tgtEl>
                                          <p:spTgt spid="22"/>
                                        </p:tgtEl>
                                        <p:attrNameLst>
                                          <p:attrName>ppt_w</p:attrName>
                                        </p:attrNameLst>
                                      </p:cBhvr>
                                      <p:tavLst>
                                        <p:tav tm="0">
                                          <p:val>
                                            <p:fltVal val="0"/>
                                          </p:val>
                                        </p:tav>
                                        <p:tav tm="100000">
                                          <p:val>
                                            <p:strVal val="#ppt_w"/>
                                          </p:val>
                                        </p:tav>
                                      </p:tavLst>
                                    </p:anim>
                                    <p:anim calcmode="lin" valueType="num">
                                      <p:cBhvr>
                                        <p:cTn id="8" dur="1000" fill="hold"/>
                                        <p:tgtEl>
                                          <p:spTgt spid="22"/>
                                        </p:tgtEl>
                                        <p:attrNameLst>
                                          <p:attrName>ppt_h</p:attrName>
                                        </p:attrNameLst>
                                      </p:cBhvr>
                                      <p:tavLst>
                                        <p:tav tm="0">
                                          <p:val>
                                            <p:fltVal val="0"/>
                                          </p:val>
                                        </p:tav>
                                        <p:tav tm="100000">
                                          <p:val>
                                            <p:strVal val="#ppt_h"/>
                                          </p:val>
                                        </p:tav>
                                      </p:tavLst>
                                    </p:anim>
                                    <p:anim calcmode="lin" valueType="num">
                                      <p:cBhvr>
                                        <p:cTn id="9" dur="1000" fill="hold"/>
                                        <p:tgtEl>
                                          <p:spTgt spid="22"/>
                                        </p:tgtEl>
                                        <p:attrNameLst>
                                          <p:attrName>style.rotation</p:attrName>
                                        </p:attrNameLst>
                                      </p:cBhvr>
                                      <p:tavLst>
                                        <p:tav tm="0">
                                          <p:val>
                                            <p:fltVal val="90"/>
                                          </p:val>
                                        </p:tav>
                                        <p:tav tm="100000">
                                          <p:val>
                                            <p:fltVal val="0"/>
                                          </p:val>
                                        </p:tav>
                                      </p:tavLst>
                                    </p:anim>
                                    <p:animEffect transition="in" filter="fade">
                                      <p:cBhvr>
                                        <p:cTn id="10" dur="10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ppt_x"/>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1000" fill="hold"/>
                                        <p:tgtEl>
                                          <p:spTgt spid="17"/>
                                        </p:tgtEl>
                                        <p:attrNameLst>
                                          <p:attrName>ppt_w</p:attrName>
                                        </p:attrNameLst>
                                      </p:cBhvr>
                                      <p:tavLst>
                                        <p:tav tm="0">
                                          <p:val>
                                            <p:fltVal val="0"/>
                                          </p:val>
                                        </p:tav>
                                        <p:tav tm="100000">
                                          <p:val>
                                            <p:strVal val="#ppt_w"/>
                                          </p:val>
                                        </p:tav>
                                      </p:tavLst>
                                    </p:anim>
                                    <p:anim calcmode="lin" valueType="num">
                                      <p:cBhvr>
                                        <p:cTn id="22" dur="1000" fill="hold"/>
                                        <p:tgtEl>
                                          <p:spTgt spid="17"/>
                                        </p:tgtEl>
                                        <p:attrNameLst>
                                          <p:attrName>ppt_h</p:attrName>
                                        </p:attrNameLst>
                                      </p:cBhvr>
                                      <p:tavLst>
                                        <p:tav tm="0">
                                          <p:val>
                                            <p:fltVal val="0"/>
                                          </p:val>
                                        </p:tav>
                                        <p:tav tm="100000">
                                          <p:val>
                                            <p:strVal val="#ppt_h"/>
                                          </p:val>
                                        </p:tav>
                                      </p:tavLst>
                                    </p:anim>
                                    <p:anim calcmode="lin" valueType="num">
                                      <p:cBhvr>
                                        <p:cTn id="23" dur="1000" fill="hold"/>
                                        <p:tgtEl>
                                          <p:spTgt spid="17"/>
                                        </p:tgtEl>
                                        <p:attrNameLst>
                                          <p:attrName>style.rotation</p:attrName>
                                        </p:attrNameLst>
                                      </p:cBhvr>
                                      <p:tavLst>
                                        <p:tav tm="0">
                                          <p:val>
                                            <p:fltVal val="90"/>
                                          </p:val>
                                        </p:tav>
                                        <p:tav tm="100000">
                                          <p:val>
                                            <p:fltVal val="0"/>
                                          </p:val>
                                        </p:tav>
                                      </p:tavLst>
                                    </p:anim>
                                    <p:animEffect transition="in" filter="fade">
                                      <p:cBhvr>
                                        <p:cTn id="24" dur="10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p:cTn id="35" dur="1000" fill="hold"/>
                                        <p:tgtEl>
                                          <p:spTgt spid="18"/>
                                        </p:tgtEl>
                                        <p:attrNameLst>
                                          <p:attrName>ppt_w</p:attrName>
                                        </p:attrNameLst>
                                      </p:cBhvr>
                                      <p:tavLst>
                                        <p:tav tm="0">
                                          <p:val>
                                            <p:fltVal val="0"/>
                                          </p:val>
                                        </p:tav>
                                        <p:tav tm="100000">
                                          <p:val>
                                            <p:strVal val="#ppt_w"/>
                                          </p:val>
                                        </p:tav>
                                      </p:tavLst>
                                    </p:anim>
                                    <p:anim calcmode="lin" valueType="num">
                                      <p:cBhvr>
                                        <p:cTn id="36" dur="1000" fill="hold"/>
                                        <p:tgtEl>
                                          <p:spTgt spid="18"/>
                                        </p:tgtEl>
                                        <p:attrNameLst>
                                          <p:attrName>ppt_h</p:attrName>
                                        </p:attrNameLst>
                                      </p:cBhvr>
                                      <p:tavLst>
                                        <p:tav tm="0">
                                          <p:val>
                                            <p:fltVal val="0"/>
                                          </p:val>
                                        </p:tav>
                                        <p:tav tm="100000">
                                          <p:val>
                                            <p:strVal val="#ppt_h"/>
                                          </p:val>
                                        </p:tav>
                                      </p:tavLst>
                                    </p:anim>
                                    <p:anim calcmode="lin" valueType="num">
                                      <p:cBhvr>
                                        <p:cTn id="37" dur="1000" fill="hold"/>
                                        <p:tgtEl>
                                          <p:spTgt spid="18"/>
                                        </p:tgtEl>
                                        <p:attrNameLst>
                                          <p:attrName>style.rotation</p:attrName>
                                        </p:attrNameLst>
                                      </p:cBhvr>
                                      <p:tavLst>
                                        <p:tav tm="0">
                                          <p:val>
                                            <p:fltVal val="90"/>
                                          </p:val>
                                        </p:tav>
                                        <p:tav tm="100000">
                                          <p:val>
                                            <p:fltVal val="0"/>
                                          </p:val>
                                        </p:tav>
                                      </p:tavLst>
                                    </p:anim>
                                    <p:animEffect transition="in" filter="fade">
                                      <p:cBhvr>
                                        <p:cTn id="38" dur="10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p:cTn id="49" dur="1000" fill="hold"/>
                                        <p:tgtEl>
                                          <p:spTgt spid="19"/>
                                        </p:tgtEl>
                                        <p:attrNameLst>
                                          <p:attrName>ppt_w</p:attrName>
                                        </p:attrNameLst>
                                      </p:cBhvr>
                                      <p:tavLst>
                                        <p:tav tm="0">
                                          <p:val>
                                            <p:fltVal val="0"/>
                                          </p:val>
                                        </p:tav>
                                        <p:tav tm="100000">
                                          <p:val>
                                            <p:strVal val="#ppt_w"/>
                                          </p:val>
                                        </p:tav>
                                      </p:tavLst>
                                    </p:anim>
                                    <p:anim calcmode="lin" valueType="num">
                                      <p:cBhvr>
                                        <p:cTn id="50" dur="1000" fill="hold"/>
                                        <p:tgtEl>
                                          <p:spTgt spid="19"/>
                                        </p:tgtEl>
                                        <p:attrNameLst>
                                          <p:attrName>ppt_h</p:attrName>
                                        </p:attrNameLst>
                                      </p:cBhvr>
                                      <p:tavLst>
                                        <p:tav tm="0">
                                          <p:val>
                                            <p:fltVal val="0"/>
                                          </p:val>
                                        </p:tav>
                                        <p:tav tm="100000">
                                          <p:val>
                                            <p:strVal val="#ppt_h"/>
                                          </p:val>
                                        </p:tav>
                                      </p:tavLst>
                                    </p:anim>
                                    <p:anim calcmode="lin" valueType="num">
                                      <p:cBhvr>
                                        <p:cTn id="51" dur="1000" fill="hold"/>
                                        <p:tgtEl>
                                          <p:spTgt spid="19"/>
                                        </p:tgtEl>
                                        <p:attrNameLst>
                                          <p:attrName>style.rotation</p:attrName>
                                        </p:attrNameLst>
                                      </p:cBhvr>
                                      <p:tavLst>
                                        <p:tav tm="0">
                                          <p:val>
                                            <p:fltVal val="90"/>
                                          </p:val>
                                        </p:tav>
                                        <p:tav tm="100000">
                                          <p:val>
                                            <p:fltVal val="0"/>
                                          </p:val>
                                        </p:tav>
                                      </p:tavLst>
                                    </p:anim>
                                    <p:animEffect transition="in" filter="fade">
                                      <p:cBhvr>
                                        <p:cTn id="52" dur="10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 calcmode="lin" valueType="num">
                                      <p:cBhvr additive="base">
                                        <p:cTn id="57" dur="500" fill="hold"/>
                                        <p:tgtEl>
                                          <p:spTgt spid="25"/>
                                        </p:tgtEl>
                                        <p:attrNameLst>
                                          <p:attrName>ppt_x</p:attrName>
                                        </p:attrNameLst>
                                      </p:cBhvr>
                                      <p:tavLst>
                                        <p:tav tm="0">
                                          <p:val>
                                            <p:strVal val="#ppt_x"/>
                                          </p:val>
                                        </p:tav>
                                        <p:tav tm="100000">
                                          <p:val>
                                            <p:strVal val="#ppt_x"/>
                                          </p:val>
                                        </p:tav>
                                      </p:tavLst>
                                    </p:anim>
                                    <p:anim calcmode="lin" valueType="num">
                                      <p:cBhvr additive="base">
                                        <p:cTn id="5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p:cTn id="63" dur="1000" fill="hold"/>
                                        <p:tgtEl>
                                          <p:spTgt spid="20"/>
                                        </p:tgtEl>
                                        <p:attrNameLst>
                                          <p:attrName>ppt_w</p:attrName>
                                        </p:attrNameLst>
                                      </p:cBhvr>
                                      <p:tavLst>
                                        <p:tav tm="0">
                                          <p:val>
                                            <p:fltVal val="0"/>
                                          </p:val>
                                        </p:tav>
                                        <p:tav tm="100000">
                                          <p:val>
                                            <p:strVal val="#ppt_w"/>
                                          </p:val>
                                        </p:tav>
                                      </p:tavLst>
                                    </p:anim>
                                    <p:anim calcmode="lin" valueType="num">
                                      <p:cBhvr>
                                        <p:cTn id="64" dur="1000" fill="hold"/>
                                        <p:tgtEl>
                                          <p:spTgt spid="20"/>
                                        </p:tgtEl>
                                        <p:attrNameLst>
                                          <p:attrName>ppt_h</p:attrName>
                                        </p:attrNameLst>
                                      </p:cBhvr>
                                      <p:tavLst>
                                        <p:tav tm="0">
                                          <p:val>
                                            <p:fltVal val="0"/>
                                          </p:val>
                                        </p:tav>
                                        <p:tav tm="100000">
                                          <p:val>
                                            <p:strVal val="#ppt_h"/>
                                          </p:val>
                                        </p:tav>
                                      </p:tavLst>
                                    </p:anim>
                                    <p:anim calcmode="lin" valueType="num">
                                      <p:cBhvr>
                                        <p:cTn id="65" dur="1000" fill="hold"/>
                                        <p:tgtEl>
                                          <p:spTgt spid="20"/>
                                        </p:tgtEl>
                                        <p:attrNameLst>
                                          <p:attrName>style.rotation</p:attrName>
                                        </p:attrNameLst>
                                      </p:cBhvr>
                                      <p:tavLst>
                                        <p:tav tm="0">
                                          <p:val>
                                            <p:fltVal val="90"/>
                                          </p:val>
                                        </p:tav>
                                        <p:tav tm="100000">
                                          <p:val>
                                            <p:fltVal val="0"/>
                                          </p:val>
                                        </p:tav>
                                      </p:tavLst>
                                    </p:anim>
                                    <p:animEffect transition="in" filter="fade">
                                      <p:cBhvr>
                                        <p:cTn id="66" dur="10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additive="base">
                                        <p:cTn id="71" dur="500" fill="hold"/>
                                        <p:tgtEl>
                                          <p:spTgt spid="26"/>
                                        </p:tgtEl>
                                        <p:attrNameLst>
                                          <p:attrName>ppt_x</p:attrName>
                                        </p:attrNameLst>
                                      </p:cBhvr>
                                      <p:tavLst>
                                        <p:tav tm="0">
                                          <p:val>
                                            <p:strVal val="#ppt_x"/>
                                          </p:val>
                                        </p:tav>
                                        <p:tav tm="100000">
                                          <p:val>
                                            <p:strVal val="#ppt_x"/>
                                          </p:val>
                                        </p:tav>
                                      </p:tavLst>
                                    </p:anim>
                                    <p:anim calcmode="lin" valueType="num">
                                      <p:cBhvr additive="base">
                                        <p:cTn id="7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31" presetClass="entr" presetSubtype="0" fill="hold" nodeType="click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p:cTn id="77" dur="1000" fill="hold"/>
                                        <p:tgtEl>
                                          <p:spTgt spid="21"/>
                                        </p:tgtEl>
                                        <p:attrNameLst>
                                          <p:attrName>ppt_w</p:attrName>
                                        </p:attrNameLst>
                                      </p:cBhvr>
                                      <p:tavLst>
                                        <p:tav tm="0">
                                          <p:val>
                                            <p:fltVal val="0"/>
                                          </p:val>
                                        </p:tav>
                                        <p:tav tm="100000">
                                          <p:val>
                                            <p:strVal val="#ppt_w"/>
                                          </p:val>
                                        </p:tav>
                                      </p:tavLst>
                                    </p:anim>
                                    <p:anim calcmode="lin" valueType="num">
                                      <p:cBhvr>
                                        <p:cTn id="78" dur="1000" fill="hold"/>
                                        <p:tgtEl>
                                          <p:spTgt spid="21"/>
                                        </p:tgtEl>
                                        <p:attrNameLst>
                                          <p:attrName>ppt_h</p:attrName>
                                        </p:attrNameLst>
                                      </p:cBhvr>
                                      <p:tavLst>
                                        <p:tav tm="0">
                                          <p:val>
                                            <p:fltVal val="0"/>
                                          </p:val>
                                        </p:tav>
                                        <p:tav tm="100000">
                                          <p:val>
                                            <p:strVal val="#ppt_h"/>
                                          </p:val>
                                        </p:tav>
                                      </p:tavLst>
                                    </p:anim>
                                    <p:anim calcmode="lin" valueType="num">
                                      <p:cBhvr>
                                        <p:cTn id="79" dur="1000" fill="hold"/>
                                        <p:tgtEl>
                                          <p:spTgt spid="21"/>
                                        </p:tgtEl>
                                        <p:attrNameLst>
                                          <p:attrName>style.rotation</p:attrName>
                                        </p:attrNameLst>
                                      </p:cBhvr>
                                      <p:tavLst>
                                        <p:tav tm="0">
                                          <p:val>
                                            <p:fltVal val="90"/>
                                          </p:val>
                                        </p:tav>
                                        <p:tav tm="100000">
                                          <p:val>
                                            <p:fltVal val="0"/>
                                          </p:val>
                                        </p:tav>
                                      </p:tavLst>
                                    </p:anim>
                                    <p:animEffect transition="in" filter="fade">
                                      <p:cBhvr>
                                        <p:cTn id="80" dur="1000"/>
                                        <p:tgtEl>
                                          <p:spTgt spid="21"/>
                                        </p:tgtEl>
                                      </p:cBhvr>
                                    </p:animEffect>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27"/>
                                        </p:tgtEl>
                                        <p:attrNameLst>
                                          <p:attrName>style.visibility</p:attrName>
                                        </p:attrNameLst>
                                      </p:cBhvr>
                                      <p:to>
                                        <p:strVal val="visible"/>
                                      </p:to>
                                    </p:set>
                                    <p:anim calcmode="lin" valueType="num">
                                      <p:cBhvr additive="base">
                                        <p:cTn id="85" dur="500" fill="hold"/>
                                        <p:tgtEl>
                                          <p:spTgt spid="27"/>
                                        </p:tgtEl>
                                        <p:attrNameLst>
                                          <p:attrName>ppt_x</p:attrName>
                                        </p:attrNameLst>
                                      </p:cBhvr>
                                      <p:tavLst>
                                        <p:tav tm="0">
                                          <p:val>
                                            <p:strVal val="#ppt_x"/>
                                          </p:val>
                                        </p:tav>
                                        <p:tav tm="100000">
                                          <p:val>
                                            <p:strVal val="#ppt_x"/>
                                          </p:val>
                                        </p:tav>
                                      </p:tavLst>
                                    </p:anim>
                                    <p:anim calcmode="lin" valueType="num">
                                      <p:cBhvr additive="base">
                                        <p:cTn id="8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26510"/>
            <a:ext cx="4196219" cy="923330"/>
          </a:xfrm>
          <a:prstGeom prst="rect">
            <a:avLst/>
          </a:prstGeom>
          <a:solidFill>
            <a:schemeClr val="accent2">
              <a:lumMod val="20000"/>
              <a:lumOff val="80000"/>
            </a:schemeClr>
          </a:solidFill>
        </p:spPr>
        <p:txBody>
          <a:bodyPr wrap="square" rtlCol="0">
            <a:spAutoFit/>
          </a:bodyPr>
          <a:lstStyle/>
          <a:p>
            <a:pPr algn="ctr"/>
            <a:r>
              <a:rPr lang="en-IN" dirty="0" smtClean="0">
                <a:latin typeface="Times New Roman" panose="02020603050405020304" pitchFamily="18" charset="0"/>
                <a:cs typeface="Times New Roman" panose="02020603050405020304" pitchFamily="18" charset="0"/>
              </a:rPr>
              <a:t>Advantages of Agile Development Method used in software development in IT Industry</a:t>
            </a:r>
            <a:endParaRPr lang="en-IN"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50936" y="2129425"/>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Solutions are Prototyped and Results are verified</a:t>
            </a:r>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50935" y="2609010"/>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Best solutions are accepted</a:t>
            </a:r>
            <a:endParaRPr lang="en-IN"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50935" y="3054613"/>
            <a:ext cx="6501010"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Before approval itself the solutions are experienced by the client</a:t>
            </a:r>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450931" y="3561383"/>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To improve user experience short iterations are possible</a:t>
            </a:r>
            <a:endParaRPr lang="en-IN"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450934" y="4144203"/>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Small cross-functional teams</a:t>
            </a:r>
            <a:endParaRPr lang="en-IN"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450934" y="4650973"/>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Incremental delivery is possible</a:t>
            </a:r>
            <a:endParaRPr lang="en-IN"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50933" y="5148263"/>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Fast feedback helps the designers and developers</a:t>
            </a:r>
            <a:endParaRPr lang="en-IN"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50932" y="5655033"/>
            <a:ext cx="6037545"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Continuous improvement is possible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272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01457"/>
            <a:ext cx="6212909"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Design thinking in Business Process Modelling</a:t>
            </a:r>
            <a:endParaRPr lang="en-IN" sz="24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713984" y="1615858"/>
            <a:ext cx="4809994"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What is Business Process Model?</a:t>
            </a:r>
            <a:endParaRPr lang="en-IN" sz="2000" dirty="0">
              <a:latin typeface="Times New Roman" panose="02020603050405020304" pitchFamily="18" charset="0"/>
              <a:cs typeface="Times New Roman" panose="02020603050405020304" pitchFamily="18" charset="0"/>
            </a:endParaRPr>
          </a:p>
        </p:txBody>
      </p:sp>
      <p:sp>
        <p:nvSpPr>
          <p:cNvPr id="7" name="Rectangle 6"/>
          <p:cNvSpPr/>
          <p:nvPr/>
        </p:nvSpPr>
        <p:spPr>
          <a:xfrm>
            <a:off x="713984" y="2176057"/>
            <a:ext cx="11478016" cy="923330"/>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Business process management (BPM) is a way of breaking down business processes into their most basic elements: the tasks and activities a business carries out. BPM shows, clearly and transparently, how a product or service transforms as it moves through an organization's process sequence, often in near real-time.</a:t>
            </a:r>
            <a:endParaRPr lang="en-IN" dirty="0">
              <a:latin typeface="Times New Roman" panose="02020603050405020304" pitchFamily="18" charset="0"/>
              <a:cs typeface="Times New Roman" panose="02020603050405020304" pitchFamily="18" charset="0"/>
            </a:endParaRPr>
          </a:p>
        </p:txBody>
      </p:sp>
      <p:pic>
        <p:nvPicPr>
          <p:cNvPr id="10242" name="Picture 2" descr="Business Process Modeling | Definition, Why, Technique and Benefi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1197" y="3470862"/>
            <a:ext cx="6096000" cy="292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5979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242"/>
                                        </p:tgtEl>
                                        <p:attrNameLst>
                                          <p:attrName>style.visibility</p:attrName>
                                        </p:attrNameLst>
                                      </p:cBhvr>
                                      <p:to>
                                        <p:strVal val="visible"/>
                                      </p:to>
                                    </p:set>
                                    <p:animEffect transition="in" filter="fade">
                                      <p:cBhvr>
                                        <p:cTn id="26" dur="1000"/>
                                        <p:tgtEl>
                                          <p:spTgt spid="10242"/>
                                        </p:tgtEl>
                                      </p:cBhvr>
                                    </p:animEffect>
                                    <p:anim calcmode="lin" valueType="num">
                                      <p:cBhvr>
                                        <p:cTn id="27" dur="1000" fill="hold"/>
                                        <p:tgtEl>
                                          <p:spTgt spid="10242"/>
                                        </p:tgtEl>
                                        <p:attrNameLst>
                                          <p:attrName>ppt_x</p:attrName>
                                        </p:attrNameLst>
                                      </p:cBhvr>
                                      <p:tavLst>
                                        <p:tav tm="0">
                                          <p:val>
                                            <p:strVal val="#ppt_x"/>
                                          </p:val>
                                        </p:tav>
                                        <p:tav tm="100000">
                                          <p:val>
                                            <p:strVal val="#ppt_x"/>
                                          </p:val>
                                        </p:tav>
                                      </p:tavLst>
                                    </p:anim>
                                    <p:anim calcmode="lin" valueType="num">
                                      <p:cBhvr>
                                        <p:cTn id="28" dur="1000" fill="hold"/>
                                        <p:tgtEl>
                                          <p:spTgt spid="102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01457"/>
            <a:ext cx="6212909"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Design thinking in Business Process Modelling</a:t>
            </a:r>
            <a:endParaRPr lang="en-IN" sz="24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25885" y="1615858"/>
            <a:ext cx="11766115" cy="707886"/>
          </a:xfrm>
          <a:prstGeom prst="rect">
            <a:avLst/>
          </a:prstGeom>
          <a:noFill/>
        </p:spPr>
        <p:txBody>
          <a:bodyPr wrap="square" rtlCol="0">
            <a:spAutoFit/>
          </a:bodyPr>
          <a:lstStyle/>
          <a:p>
            <a:pPr algn="just"/>
            <a:r>
              <a:rPr lang="en-IN" sz="2000" dirty="0" smtClean="0">
                <a:latin typeface="Times New Roman" panose="02020603050405020304" pitchFamily="18" charset="0"/>
                <a:cs typeface="Times New Roman" panose="02020603050405020304" pitchFamily="18" charset="0"/>
              </a:rPr>
              <a:t>Process models mediate communication between stakeholders: Business analysts, process participants and software architects</a:t>
            </a:r>
            <a:endParaRPr lang="en-IN" sz="20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25885" y="2422537"/>
            <a:ext cx="11766115" cy="400110"/>
          </a:xfrm>
          <a:prstGeom prst="rect">
            <a:avLst/>
          </a:prstGeom>
          <a:noFill/>
        </p:spPr>
        <p:txBody>
          <a:bodyPr wrap="square" rtlCol="0">
            <a:spAutoFit/>
          </a:bodyPr>
          <a:lstStyle/>
          <a:p>
            <a:pPr algn="just"/>
            <a:r>
              <a:rPr lang="en-IN" sz="2000" dirty="0" smtClean="0">
                <a:latin typeface="Times New Roman" panose="02020603050405020304" pitchFamily="18" charset="0"/>
                <a:cs typeface="Times New Roman" panose="02020603050405020304" pitchFamily="18" charset="0"/>
              </a:rPr>
              <a:t>Process models provides shared understanding so that everyone can contribute knowledge</a:t>
            </a:r>
            <a:endParaRPr lang="en-IN" sz="2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25885" y="2921440"/>
            <a:ext cx="11766115" cy="707886"/>
          </a:xfrm>
          <a:prstGeom prst="rect">
            <a:avLst/>
          </a:prstGeom>
          <a:noFill/>
        </p:spPr>
        <p:txBody>
          <a:bodyPr wrap="square" rtlCol="0">
            <a:spAutoFit/>
          </a:bodyPr>
          <a:lstStyle/>
          <a:p>
            <a:pPr algn="just"/>
            <a:r>
              <a:rPr lang="en-IN" sz="2000" dirty="0" smtClean="0">
                <a:latin typeface="Times New Roman" panose="02020603050405020304" pitchFamily="18" charset="0"/>
                <a:cs typeface="Times New Roman" panose="02020603050405020304" pitchFamily="18" charset="0"/>
              </a:rPr>
              <a:t>BPM – Combination of various process related steps: Process mapping, Process discovery, Process simulation, Process analysis and Process improvement.</a:t>
            </a:r>
            <a:endParaRPr lang="en-IN" sz="2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425885" y="3728119"/>
            <a:ext cx="11766115" cy="707886"/>
          </a:xfrm>
          <a:prstGeom prst="rect">
            <a:avLst/>
          </a:prstGeom>
          <a:noFill/>
        </p:spPr>
        <p:txBody>
          <a:bodyPr wrap="square" rtlCol="0">
            <a:spAutoFit/>
          </a:bodyPr>
          <a:lstStyle/>
          <a:p>
            <a:pPr algn="just"/>
            <a:r>
              <a:rPr lang="en-IN" sz="2000" dirty="0" smtClean="0">
                <a:latin typeface="Times New Roman" panose="02020603050405020304" pitchFamily="18" charset="0"/>
                <a:cs typeface="Times New Roman" panose="02020603050405020304" pitchFamily="18" charset="0"/>
              </a:rPr>
              <a:t>BPM – Arrived from last few decades and have replaced previous organizational efficiency packages: Time and Motion Study (TMS) and Total Quality Management (TQM).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185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01457"/>
            <a:ext cx="6212909"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Design thinking in Business Process Modelling</a:t>
            </a:r>
            <a:endParaRPr lang="en-IN" sz="24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0" y="1603331"/>
            <a:ext cx="5874707"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Advantages of BPM</a:t>
            </a:r>
            <a:endParaRPr lang="en-IN" sz="20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87890" y="2242159"/>
            <a:ext cx="5047989"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Align operations with business strategy</a:t>
            </a:r>
            <a:endParaRPr lang="en-IN" sz="2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87890" y="2880987"/>
            <a:ext cx="5047989"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Improves process communication</a:t>
            </a:r>
            <a:endParaRPr lang="en-IN" sz="2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87890" y="3519815"/>
            <a:ext cx="5047989"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Increase control and consistency</a:t>
            </a:r>
            <a:endParaRPr lang="en-IN" sz="20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187890" y="4158643"/>
            <a:ext cx="5047989"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Improve operational efficiencies</a:t>
            </a:r>
            <a:endParaRPr lang="en-IN" sz="2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87889" y="4797471"/>
            <a:ext cx="5047989"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Gain competitive advantage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5019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01457"/>
            <a:ext cx="6212909"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Design thinking in Business Process Modelling</a:t>
            </a:r>
            <a:endParaRPr lang="en-IN" sz="2400" dirty="0">
              <a:latin typeface="Times New Roman" panose="02020603050405020304" pitchFamily="18" charset="0"/>
              <a:cs typeface="Times New Roman" panose="02020603050405020304" pitchFamily="18" charset="0"/>
            </a:endParaRPr>
          </a:p>
        </p:txBody>
      </p:sp>
      <p:sp>
        <p:nvSpPr>
          <p:cNvPr id="6" name="Rectangle 5"/>
          <p:cNvSpPr/>
          <p:nvPr/>
        </p:nvSpPr>
        <p:spPr>
          <a:xfrm>
            <a:off x="229644" y="1487837"/>
            <a:ext cx="11962356" cy="1200329"/>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By revealing the way things are done at an organization, and comparing that with the way things should be done, BPM highlights the dependencies and relationships between people, process, and technology—and where those elements are ripe for improvement.</a:t>
            </a:r>
            <a:endParaRPr lang="en-IN" sz="2400" dirty="0">
              <a:latin typeface="Times New Roman" panose="02020603050405020304" pitchFamily="18" charset="0"/>
              <a:cs typeface="Times New Roman" panose="02020603050405020304" pitchFamily="18" charset="0"/>
            </a:endParaRPr>
          </a:p>
        </p:txBody>
      </p:sp>
      <p:sp>
        <p:nvSpPr>
          <p:cNvPr id="7" name="Rectangle 6"/>
          <p:cNvSpPr/>
          <p:nvPr/>
        </p:nvSpPr>
        <p:spPr>
          <a:xfrm>
            <a:off x="229644" y="3012881"/>
            <a:ext cx="11962356" cy="1938992"/>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Design thinking is also focused on improvement, but takes the end-user or customer experience as a starting point. Fundamentally, design thinking uses empathy to understand the way people feel about using a service or product, including where their frustrations lie, then builds on that knowledge to create improvements, with the ultimate goal of making customers’ lives and experiences better and more fulfilling.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820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01457"/>
            <a:ext cx="6212909"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Design thinking in Business Process Modelling</a:t>
            </a:r>
            <a:endParaRPr lang="en-IN" sz="2400" dirty="0">
              <a:latin typeface="Times New Roman" panose="02020603050405020304" pitchFamily="18" charset="0"/>
              <a:cs typeface="Times New Roman" panose="02020603050405020304" pitchFamily="18" charset="0"/>
            </a:endParaRPr>
          </a:p>
        </p:txBody>
      </p:sp>
      <p:sp>
        <p:nvSpPr>
          <p:cNvPr id="6" name="Rectangle 5"/>
          <p:cNvSpPr/>
          <p:nvPr/>
        </p:nvSpPr>
        <p:spPr>
          <a:xfrm>
            <a:off x="0" y="1350837"/>
            <a:ext cx="5323562" cy="1938992"/>
          </a:xfrm>
          <a:prstGeom prst="rect">
            <a:avLst/>
          </a:prstGeom>
        </p:spPr>
        <p:txBody>
          <a:bodyPr wrap="square">
            <a:spAutoFit/>
          </a:bodyPr>
          <a:lstStyle/>
          <a:p>
            <a:pPr algn="just"/>
            <a:r>
              <a:rPr lang="en-US" sz="2000" dirty="0" smtClean="0">
                <a:latin typeface="Times New Roman" panose="02020603050405020304" pitchFamily="18" charset="0"/>
                <a:cs typeface="Times New Roman" panose="02020603050405020304" pitchFamily="18" charset="0"/>
              </a:rPr>
              <a:t>There </a:t>
            </a:r>
            <a:r>
              <a:rPr lang="en-US" sz="2000" dirty="0">
                <a:latin typeface="Times New Roman" panose="02020603050405020304" pitchFamily="18" charset="0"/>
                <a:cs typeface="Times New Roman" panose="02020603050405020304" pitchFamily="18" charset="0"/>
              </a:rPr>
              <a:t>are five key phases of design thinking:</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challenge: How do I solve it?</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 have learned something: How do I act upon it?</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an opportunity: What do I create?</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an idea: How do I build upon it?</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 tried something: How do I evolve it?</a:t>
            </a:r>
            <a:endParaRPr lang="en-US" sz="2000" b="0" i="0" dirty="0">
              <a:effectLst/>
              <a:latin typeface="Times New Roman" panose="02020603050405020304" pitchFamily="18" charset="0"/>
              <a:cs typeface="Times New Roman" panose="02020603050405020304" pitchFamily="18" charset="0"/>
            </a:endParaRPr>
          </a:p>
        </p:txBody>
      </p:sp>
      <p:sp>
        <p:nvSpPr>
          <p:cNvPr id="7" name="Rectangle 6"/>
          <p:cNvSpPr/>
          <p:nvPr/>
        </p:nvSpPr>
        <p:spPr>
          <a:xfrm>
            <a:off x="116909" y="3690279"/>
            <a:ext cx="6096000" cy="2554545"/>
          </a:xfrm>
          <a:prstGeom prst="rect">
            <a:avLst/>
          </a:prstGeom>
        </p:spPr>
        <p:txBody>
          <a:bodyPr>
            <a:spAutoFit/>
          </a:bodyPr>
          <a:lstStyle/>
          <a:p>
            <a:pPr algn="just"/>
            <a:r>
              <a:rPr lang="en-US" sz="2000" dirty="0">
                <a:latin typeface="Times New Roman" panose="02020603050405020304" pitchFamily="18" charset="0"/>
                <a:cs typeface="Times New Roman" panose="02020603050405020304" pitchFamily="18" charset="0"/>
              </a:rPr>
              <a:t>This is an ongoing, cyclical approach, with the practice of ‘design, test, and iterate’ at its center— that is, constantly creating and rapidly deploying prototypes or new ideas, then testing and reflecting on them, including through fast feedback from customers. Organizations therefore spend less time and resources any one idea, and yet have the capacity to quickly scale up any idea that has merit, and positive reactions from customers.</a:t>
            </a:r>
            <a:endParaRPr lang="en-IN" sz="2000" dirty="0">
              <a:latin typeface="Times New Roman" panose="02020603050405020304" pitchFamily="18" charset="0"/>
              <a:cs typeface="Times New Roman" panose="02020603050405020304" pitchFamily="18" charset="0"/>
            </a:endParaRPr>
          </a:p>
        </p:txBody>
      </p:sp>
      <p:sp>
        <p:nvSpPr>
          <p:cNvPr id="8" name="Rectangle 7"/>
          <p:cNvSpPr/>
          <p:nvPr/>
        </p:nvSpPr>
        <p:spPr>
          <a:xfrm>
            <a:off x="6212909" y="1185993"/>
            <a:ext cx="5979091" cy="3170099"/>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similarities to BPM are clear. Process improvement requires the same approach of identifying a challenge (like an inefficient process), generating the information needed to understand why the process is inefficient, implementing a possible solution, then measuring the effectiveness of that solution over time. Rinse and repeat! Merging the two disciplines essentially means using the insights gained through an effective BPM framework to feed into the design thinking process, and enhance customer-facing business processes.</a:t>
            </a:r>
            <a:endParaRPr lang="en-IN" sz="2000" dirty="0">
              <a:latin typeface="Times New Roman" panose="02020603050405020304" pitchFamily="18" charset="0"/>
              <a:cs typeface="Times New Roman" panose="02020603050405020304" pitchFamily="18" charset="0"/>
            </a:endParaRPr>
          </a:p>
        </p:txBody>
      </p:sp>
      <p:sp>
        <p:nvSpPr>
          <p:cNvPr id="9" name="Rectangle 8"/>
          <p:cNvSpPr/>
          <p:nvPr/>
        </p:nvSpPr>
        <p:spPr>
          <a:xfrm>
            <a:off x="6212909" y="4613608"/>
            <a:ext cx="5979091" cy="1631216"/>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After all, without a clear view of the current state operational structure and business process landscape to analyze, the risk of producing a ‘solution’ which is in fact not fit for purpose, or causes issues in other parts of the system, is amplified.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7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01457"/>
            <a:ext cx="6212909"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Design thinking in Business Process Modelling</a:t>
            </a:r>
            <a:endParaRPr lang="en-IN" sz="24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12943" y="1478071"/>
            <a:ext cx="5761972" cy="461665"/>
          </a:xfrm>
          <a:prstGeom prst="rect">
            <a:avLst/>
          </a:prstGeom>
          <a:no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Benefits of Design Thinking and BPM</a:t>
            </a:r>
            <a:endParaRPr lang="en-IN" sz="2400" dirty="0">
              <a:latin typeface="Times New Roman" panose="02020603050405020304" pitchFamily="18" charset="0"/>
              <a:cs typeface="Times New Roman" panose="02020603050405020304" pitchFamily="18" charset="0"/>
            </a:endParaRPr>
          </a:p>
        </p:txBody>
      </p:sp>
      <p:sp>
        <p:nvSpPr>
          <p:cNvPr id="7" name="Rectangle 6"/>
          <p:cNvSpPr/>
          <p:nvPr/>
        </p:nvSpPr>
        <p:spPr>
          <a:xfrm>
            <a:off x="212943" y="2489083"/>
            <a:ext cx="11979057" cy="3477875"/>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Working in tandem, design thinking and BPM unlock a range of powerful (and potentially lucrative) benefits, including</a:t>
            </a:r>
            <a:r>
              <a:rPr lang="en-US" sz="2000" dirty="0" smtClean="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Competitive advantage, gained through a willingness to innovate, then ‘double-down’ on ideas that work, and discard ones that don’t—before they become a liability</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Moving beyond traditional process maps and case models to more customer-centric and human-scale products and services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Pooling collective ease and enhancing collaboration, through building multidisciplinary teams to focus on a single problem</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Harnessing natural empathy, leading to a better understanding of the needs and challenges of customers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Generating more revenue by ensuring a deeper level of customer satisfaction</a:t>
            </a:r>
            <a:endParaRPr lang="en-US"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503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Rectangle 4"/>
          <p:cNvSpPr/>
          <p:nvPr/>
        </p:nvSpPr>
        <p:spPr>
          <a:xfrm>
            <a:off x="1537" y="1561568"/>
            <a:ext cx="12193539" cy="1323439"/>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In the book ‘The Flat World’ The author Thomas Friedman indicates the word ‘FLAT’ with an imaginary impression that, technology and internet has changed the world so abundantly that in modern times people work remotely not only from a single geographic location but also across continents with different time zones, cultures and even languages.</a:t>
            </a:r>
            <a:endParaRPr lang="en-IN" sz="2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0" y="806822"/>
            <a:ext cx="4835047"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Agile in Virtual Collaboration</a:t>
            </a:r>
            <a:endParaRPr lang="en-IN" sz="2400" dirty="0">
              <a:latin typeface="Times New Roman" panose="02020603050405020304" pitchFamily="18" charset="0"/>
              <a:cs typeface="Times New Roman" panose="02020603050405020304" pitchFamily="18" charset="0"/>
            </a:endParaRPr>
          </a:p>
        </p:txBody>
      </p:sp>
      <p:sp>
        <p:nvSpPr>
          <p:cNvPr id="7" name="Rectangle 6"/>
          <p:cNvSpPr/>
          <p:nvPr/>
        </p:nvSpPr>
        <p:spPr>
          <a:xfrm>
            <a:off x="1538" y="2885007"/>
            <a:ext cx="12190462" cy="707886"/>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Thomas Friedman explains flattening as (The world is flat, 2005) the combination of a personal computer with fiber optic micro cable, using the internet with the help of a working software. </a:t>
            </a:r>
            <a:endParaRPr lang="en-IN" sz="2000" dirty="0">
              <a:latin typeface="Times New Roman" panose="02020603050405020304" pitchFamily="18" charset="0"/>
              <a:cs typeface="Times New Roman" panose="02020603050405020304" pitchFamily="18" charset="0"/>
            </a:endParaRPr>
          </a:p>
        </p:txBody>
      </p:sp>
      <p:sp>
        <p:nvSpPr>
          <p:cNvPr id="8" name="Rectangle 7"/>
          <p:cNvSpPr/>
          <p:nvPr/>
        </p:nvSpPr>
        <p:spPr>
          <a:xfrm>
            <a:off x="769" y="3648486"/>
            <a:ext cx="12191231" cy="707886"/>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Working remote and in a global environment is not so uncommon anymore and has gained acceptance as a general working norm in last couple of decades.</a:t>
            </a:r>
            <a:endParaRPr lang="en-IN" sz="2000" dirty="0">
              <a:latin typeface="Times New Roman" panose="02020603050405020304" pitchFamily="18" charset="0"/>
              <a:cs typeface="Times New Roman" panose="02020603050405020304" pitchFamily="18" charset="0"/>
            </a:endParaRPr>
          </a:p>
        </p:txBody>
      </p:sp>
      <p:sp>
        <p:nvSpPr>
          <p:cNvPr id="9" name="Rectangle 8"/>
          <p:cNvSpPr/>
          <p:nvPr/>
        </p:nvSpPr>
        <p:spPr>
          <a:xfrm>
            <a:off x="383" y="4411965"/>
            <a:ext cx="12191616" cy="1015663"/>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With insourcing, outsourcing and companies operating in a global environment do business globally. With the management headquartered at a single location however do operate with other regions with the use of technology. This means business run globally and hence projects within the organizations also path globally.</a:t>
            </a:r>
            <a:endParaRPr lang="en-IN" sz="2000" dirty="0">
              <a:latin typeface="Times New Roman" panose="02020603050405020304" pitchFamily="18" charset="0"/>
              <a:cs typeface="Times New Roman" panose="02020603050405020304" pitchFamily="18" charset="0"/>
            </a:endParaRPr>
          </a:p>
        </p:txBody>
      </p:sp>
      <p:sp>
        <p:nvSpPr>
          <p:cNvPr id="10" name="Rectangle 9"/>
          <p:cNvSpPr/>
          <p:nvPr/>
        </p:nvSpPr>
        <p:spPr>
          <a:xfrm>
            <a:off x="190" y="5520653"/>
            <a:ext cx="12191809" cy="1015663"/>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 Agile methods are more popular in the software industry however have gain so much admiration that other industries also want to pursue its benefits in their businesses. Operating in a global environment make these frameworks more challenging to operate efficiently.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377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806822"/>
            <a:ext cx="4835047"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Agile in Virtual Collaboration</a:t>
            </a:r>
            <a:endParaRPr lang="en-IN" sz="2400" dirty="0">
              <a:latin typeface="Times New Roman" panose="02020603050405020304" pitchFamily="18" charset="0"/>
              <a:cs typeface="Times New Roman" panose="02020603050405020304" pitchFamily="18" charset="0"/>
            </a:endParaRPr>
          </a:p>
        </p:txBody>
      </p:sp>
      <p:sp>
        <p:nvSpPr>
          <p:cNvPr id="6" name="Rectangle 5"/>
          <p:cNvSpPr/>
          <p:nvPr/>
        </p:nvSpPr>
        <p:spPr>
          <a:xfrm>
            <a:off x="1538" y="1437021"/>
            <a:ext cx="12190462" cy="1015663"/>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Agile methodology can accept changes anytime compared to that of a waterfall method, and hence collaboration between collocated teams eases out the agile processes. Besides coordination; interaction, development, planning, review, retrospective sessions etc. also immensely reduce time and effort. </a:t>
            </a:r>
            <a:endParaRPr lang="en-IN" sz="2000" dirty="0">
              <a:latin typeface="Times New Roman" panose="02020603050405020304" pitchFamily="18" charset="0"/>
              <a:cs typeface="Times New Roman" panose="02020603050405020304" pitchFamily="18" charset="0"/>
            </a:endParaRPr>
          </a:p>
        </p:txBody>
      </p:sp>
      <p:sp>
        <p:nvSpPr>
          <p:cNvPr id="7" name="Rectangle 6"/>
          <p:cNvSpPr/>
          <p:nvPr/>
        </p:nvSpPr>
        <p:spPr>
          <a:xfrm>
            <a:off x="768" y="2452684"/>
            <a:ext cx="12191231" cy="1323439"/>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Working remote or distributed is considered being competitive and is considered a fit operating model. Some companies also provide it as a choice to its employees. Businesses want to leverage talent round the clock, use the best talent which may not be locally available, cheap labor by outsourcing to low cost countries, higher productivity and numerous strategic reasons.</a:t>
            </a:r>
            <a:endParaRPr lang="en-IN" sz="2000" dirty="0">
              <a:latin typeface="Times New Roman" panose="02020603050405020304" pitchFamily="18" charset="0"/>
              <a:cs typeface="Times New Roman" panose="02020603050405020304" pitchFamily="18" charset="0"/>
            </a:endParaRPr>
          </a:p>
        </p:txBody>
      </p:sp>
      <p:sp>
        <p:nvSpPr>
          <p:cNvPr id="8" name="Rectangle 7"/>
          <p:cNvSpPr/>
          <p:nvPr/>
        </p:nvSpPr>
        <p:spPr>
          <a:xfrm>
            <a:off x="-1" y="3892835"/>
            <a:ext cx="12191999" cy="1015663"/>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With growing needs of working remote, it is intolerable to voice that agile methods will not work by distributed teams. Although few trials will arise, with the help of tools and techniques moving to a remote working environment is possible.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196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33449"/>
            <a:ext cx="4835047"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Agile in Virtual Collaboration</a:t>
            </a:r>
            <a:endParaRPr lang="en-IN" sz="2400" dirty="0">
              <a:latin typeface="Times New Roman" panose="02020603050405020304" pitchFamily="18" charset="0"/>
              <a:cs typeface="Times New Roman" panose="02020603050405020304" pitchFamily="18" charset="0"/>
            </a:endParaRPr>
          </a:p>
        </p:txBody>
      </p:sp>
      <p:sp>
        <p:nvSpPr>
          <p:cNvPr id="6" name="Rectangle 5"/>
          <p:cNvSpPr/>
          <p:nvPr/>
        </p:nvSpPr>
        <p:spPr>
          <a:xfrm>
            <a:off x="1538" y="1414821"/>
            <a:ext cx="12190462" cy="1938992"/>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ALLOW </a:t>
            </a:r>
            <a:r>
              <a:rPr lang="en-US" sz="2000" b="1" dirty="0" smtClean="0">
                <a:latin typeface="Times New Roman" panose="02020603050405020304" pitchFamily="18" charset="0"/>
                <a:cs typeface="Times New Roman" panose="02020603050405020304" pitchFamily="18" charset="0"/>
              </a:rPr>
              <a:t>TRANSPARENCY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As company or a lead establish a transparent environment. Provide a sense of trust in the team members with the decisions they make an organize sessions with them to align these decisions with company goals and vision. Do not keep responsibilities a secret. Be clear over job functions. Make sure the outcomes are public across the team. Gather feedback. Establish open communication channels.</a:t>
            </a:r>
            <a:endParaRPr lang="en-US" sz="2000" b="0" i="0" dirty="0">
              <a:effectLst/>
              <a:latin typeface="Times New Roman" panose="02020603050405020304" pitchFamily="18" charset="0"/>
              <a:cs typeface="Times New Roman" panose="02020603050405020304" pitchFamily="18" charset="0"/>
            </a:endParaRPr>
          </a:p>
        </p:txBody>
      </p:sp>
      <p:sp>
        <p:nvSpPr>
          <p:cNvPr id="7" name="Rectangle 6"/>
          <p:cNvSpPr/>
          <p:nvPr/>
        </p:nvSpPr>
        <p:spPr>
          <a:xfrm>
            <a:off x="0" y="3852405"/>
            <a:ext cx="12192000" cy="1938992"/>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ESTABLISH A CULTURE OF CONTINUOUS </a:t>
            </a:r>
            <a:r>
              <a:rPr lang="en-US" sz="2000" b="1" dirty="0" smtClean="0">
                <a:latin typeface="Times New Roman" panose="02020603050405020304" pitchFamily="18" charset="0"/>
                <a:cs typeface="Times New Roman" panose="02020603050405020304" pitchFamily="18" charset="0"/>
              </a:rPr>
              <a:t>IMPROVEMENT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Drive improvements within the team. Recognize potential improvement opportunities and obtain ideas from the team. Listen to suggestions and rationally take appropriate steps. Agile principle drives continuous improvement and thus team members are open for improvement opportunities. Generate calculated experiments to implement improvement initiatives.</a:t>
            </a:r>
            <a:endParaRPr lang="en-US"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4733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33449"/>
            <a:ext cx="4835047"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Agile in Virtual Collaboration</a:t>
            </a:r>
            <a:endParaRPr lang="en-IN" sz="2400" dirty="0">
              <a:latin typeface="Times New Roman" panose="02020603050405020304" pitchFamily="18" charset="0"/>
              <a:cs typeface="Times New Roman" panose="02020603050405020304" pitchFamily="18" charset="0"/>
            </a:endParaRPr>
          </a:p>
        </p:txBody>
      </p:sp>
      <p:sp>
        <p:nvSpPr>
          <p:cNvPr id="6" name="Rectangle 5"/>
          <p:cNvSpPr/>
          <p:nvPr/>
        </p:nvSpPr>
        <p:spPr>
          <a:xfrm>
            <a:off x="1538" y="1414821"/>
            <a:ext cx="12190462" cy="1938992"/>
          </a:xfrm>
          <a:prstGeom prst="rect">
            <a:avLst/>
          </a:prstGeom>
        </p:spPr>
        <p:txBody>
          <a:bodyPr wrap="square">
            <a:spAutoFit/>
          </a:bodyPr>
          <a:lstStyle/>
          <a:p>
            <a:pPr algn="just"/>
            <a:r>
              <a:rPr lang="en-US" sz="2000" b="1" dirty="0" smtClean="0">
                <a:latin typeface="Times New Roman" panose="02020603050405020304" pitchFamily="18" charset="0"/>
                <a:cs typeface="Times New Roman" panose="02020603050405020304" pitchFamily="18" charset="0"/>
              </a:rPr>
              <a:t>COMMUNICATION</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Communication is perhaps the most important artefact in any team</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how you structure your communication will determine the output</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Practice deep communication at all levels</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 strong emphasis on communication is the key. Communication need not happen only via emails, phone calls or meetings, however in enterprises major communication happen with the help </a:t>
            </a:r>
            <a:r>
              <a:rPr lang="en-US" sz="2000" dirty="0" smtClean="0">
                <a:latin typeface="Times New Roman" panose="02020603050405020304" pitchFamily="18" charset="0"/>
                <a:cs typeface="Times New Roman" panose="02020603050405020304" pitchFamily="18" charset="0"/>
              </a:rPr>
              <a:t>of </a:t>
            </a:r>
            <a:r>
              <a:rPr lang="en-US" sz="2000" dirty="0">
                <a:latin typeface="Times New Roman" panose="02020603050405020304" pitchFamily="18" charset="0"/>
                <a:cs typeface="Times New Roman" panose="02020603050405020304" pitchFamily="18" charset="0"/>
              </a:rPr>
              <a:t>ERP tools which help you be agile all the time.</a:t>
            </a:r>
            <a:endParaRPr lang="en-US" sz="2000" b="0" i="0" dirty="0">
              <a:effectLst/>
              <a:latin typeface="Times New Roman" panose="02020603050405020304" pitchFamily="18" charset="0"/>
              <a:cs typeface="Times New Roman" panose="02020603050405020304" pitchFamily="18" charset="0"/>
            </a:endParaRPr>
          </a:p>
        </p:txBody>
      </p:sp>
      <p:sp>
        <p:nvSpPr>
          <p:cNvPr id="7" name="Rectangle 6"/>
          <p:cNvSpPr/>
          <p:nvPr/>
        </p:nvSpPr>
        <p:spPr>
          <a:xfrm>
            <a:off x="769" y="3786462"/>
            <a:ext cx="12192000" cy="1938992"/>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CONSTRUCTION OF A </a:t>
            </a:r>
            <a:r>
              <a:rPr lang="en-US" sz="2000" b="1" dirty="0" smtClean="0">
                <a:latin typeface="Times New Roman" panose="02020603050405020304" pitchFamily="18" charset="0"/>
                <a:cs typeface="Times New Roman" panose="02020603050405020304" pitchFamily="18" charset="0"/>
              </a:rPr>
              <a:t>RHYTHM</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There are three things which are absolute necessary in agile methodology: Transparency, inspection, and adaptation. Scrum also calls it the three pillars of Scrum (Scrum Guide, 2005). It is important we create a tempo which operates around these pillars of Scrum. Having said that this drives in creating a self-collaborating team which is a prime eminence of Agile.</a:t>
            </a:r>
            <a:endParaRPr lang="en-US"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9587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33449"/>
            <a:ext cx="4835047"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Agile in Virtual Collaboration</a:t>
            </a:r>
            <a:endParaRPr lang="en-IN" sz="2400" dirty="0">
              <a:latin typeface="Times New Roman" panose="02020603050405020304" pitchFamily="18" charset="0"/>
              <a:cs typeface="Times New Roman" panose="02020603050405020304" pitchFamily="18" charset="0"/>
            </a:endParaRPr>
          </a:p>
        </p:txBody>
      </p:sp>
      <p:sp>
        <p:nvSpPr>
          <p:cNvPr id="6" name="Rectangle 5"/>
          <p:cNvSpPr/>
          <p:nvPr/>
        </p:nvSpPr>
        <p:spPr>
          <a:xfrm>
            <a:off x="0" y="1392641"/>
            <a:ext cx="12192000" cy="1631216"/>
          </a:xfrm>
          <a:prstGeom prst="rect">
            <a:avLst/>
          </a:prstGeom>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GENERATE A CULTURE OF COURAGE &amp; </a:t>
            </a:r>
            <a:r>
              <a:rPr lang="en-US" sz="2000" b="1" dirty="0" smtClean="0">
                <a:latin typeface="Times New Roman" panose="02020603050405020304" pitchFamily="18" charset="0"/>
                <a:cs typeface="Times New Roman" panose="02020603050405020304" pitchFamily="18" charset="0"/>
              </a:rPr>
              <a:t>FLEXIBILITY</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This also goes with the concept of fail fast. Failure is not bad; it is okay to fail. However, here the key argument is to fail fast. Establish an environment where the team is courageous to take steps to try out something new. The idea is to reduce the delay. Detect the failure fast and further twist your initiatives.</a:t>
            </a:r>
            <a:endParaRPr lang="en-US" sz="2000" b="0" i="0" dirty="0">
              <a:effectLst/>
              <a:latin typeface="Times New Roman" panose="02020603050405020304" pitchFamily="18" charset="0"/>
              <a:cs typeface="Times New Roman" panose="02020603050405020304" pitchFamily="18" charset="0"/>
            </a:endParaRPr>
          </a:p>
        </p:txBody>
      </p:sp>
      <p:sp>
        <p:nvSpPr>
          <p:cNvPr id="7" name="Rectangle 6"/>
          <p:cNvSpPr/>
          <p:nvPr/>
        </p:nvSpPr>
        <p:spPr>
          <a:xfrm>
            <a:off x="0" y="3221384"/>
            <a:ext cx="12192000" cy="1323439"/>
          </a:xfrm>
          <a:prstGeom prst="rect">
            <a:avLst/>
          </a:prstGeom>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ESTABLISH A SUSTAINABLE ENVIRONMENT AND WORK LIFE BALANCE</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Often distributed team end up stretching their normal working hours which lead t over working than regular hours or working at odd time. Establish rules and ensure no team member is defaulting these principles making the fellow counterpart abuse this principle. Plan appropriate and set expectations accordingly.</a:t>
            </a:r>
            <a:endParaRPr lang="en-US" sz="2000" b="0" i="0" dirty="0">
              <a:effectLst/>
              <a:latin typeface="Times New Roman" panose="02020603050405020304" pitchFamily="18" charset="0"/>
              <a:cs typeface="Times New Roman" panose="02020603050405020304" pitchFamily="18" charset="0"/>
            </a:endParaRPr>
          </a:p>
        </p:txBody>
      </p:sp>
      <p:sp>
        <p:nvSpPr>
          <p:cNvPr id="8" name="Rectangle 7"/>
          <p:cNvSpPr/>
          <p:nvPr/>
        </p:nvSpPr>
        <p:spPr>
          <a:xfrm>
            <a:off x="0" y="4742350"/>
            <a:ext cx="12192000" cy="1938992"/>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VISUALIZE </a:t>
            </a:r>
            <a:r>
              <a:rPr lang="en-US" sz="2000" b="1" dirty="0" smtClean="0">
                <a:latin typeface="Times New Roman" panose="02020603050405020304" pitchFamily="18" charset="0"/>
                <a:cs typeface="Times New Roman" panose="02020603050405020304" pitchFamily="18" charset="0"/>
              </a:rPr>
              <a:t>EVERYTHING</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very important footstep. Planning of tasks is easier leverage tools that provide you a visual interpretation of tasks to be completed. Establish a solution that allows the team members to view workflows, depict who is working on what, align together be able to pick the right task of right priority and at a right time. This solution will help you capture the right problem areas and effectively retrospect them to improve your processes.</a:t>
            </a:r>
            <a:endParaRPr lang="en-US"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593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6" name="TextBox 5"/>
          <p:cNvSpPr txBox="1"/>
          <p:nvPr/>
        </p:nvSpPr>
        <p:spPr>
          <a:xfrm>
            <a:off x="0" y="733449"/>
            <a:ext cx="4835047"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Agile in Virtual Collaboration</a:t>
            </a:r>
            <a:endParaRPr lang="en-IN" sz="2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338203" y="2016690"/>
            <a:ext cx="11448789" cy="1200329"/>
          </a:xfrm>
          <a:prstGeom prst="rect">
            <a:avLst/>
          </a:prstGeom>
          <a:no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The best example being the COVID-19 Pandemic which taught employers to be agile and </a:t>
            </a:r>
            <a:r>
              <a:rPr lang="en-US" sz="2400" dirty="0">
                <a:latin typeface="Times New Roman" panose="02020603050405020304" pitchFamily="18" charset="0"/>
                <a:cs typeface="Times New Roman" panose="02020603050405020304" pitchFamily="18" charset="0"/>
              </a:rPr>
              <a:t>Employers offered flexible time options to employees</a:t>
            </a:r>
            <a:r>
              <a:rPr lang="en-US" sz="2400" dirty="0" smtClean="0">
                <a:latin typeface="Times New Roman" panose="02020603050405020304" pitchFamily="18" charset="0"/>
                <a:cs typeface="Times New Roman" panose="02020603050405020304" pitchFamily="18" charset="0"/>
              </a:rPr>
              <a:t>. We can take the examples of our own institutions.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713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89140"/>
            <a:ext cx="4321479"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Scenario based prototyping</a:t>
            </a:r>
            <a:endParaRPr lang="en-IN" sz="2400" dirty="0">
              <a:latin typeface="Times New Roman" panose="02020603050405020304" pitchFamily="18" charset="0"/>
              <a:cs typeface="Times New Roman" panose="02020603050405020304" pitchFamily="18" charset="0"/>
            </a:endParaRPr>
          </a:p>
        </p:txBody>
      </p:sp>
      <p:sp>
        <p:nvSpPr>
          <p:cNvPr id="6" name="Rectangle 5"/>
          <p:cNvSpPr/>
          <p:nvPr/>
        </p:nvSpPr>
        <p:spPr>
          <a:xfrm>
            <a:off x="3077" y="1925063"/>
            <a:ext cx="12192000" cy="3785652"/>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Design thinking is at its best if tangible prototypes can be used to envision new products and services. </a:t>
            </a:r>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However</a:t>
            </a:r>
            <a:r>
              <a:rPr lang="en-US" sz="2000" dirty="0">
                <a:latin typeface="Times New Roman" panose="02020603050405020304" pitchFamily="18" charset="0"/>
                <a:cs typeface="Times New Roman" panose="02020603050405020304" pitchFamily="18" charset="0"/>
              </a:rPr>
              <a:t>, for complex software systems with multiple users usually such tangible prototypes are not feasible. </a:t>
            </a:r>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To </a:t>
            </a:r>
            <a:r>
              <a:rPr lang="en-US" sz="2000" dirty="0">
                <a:latin typeface="Times New Roman" panose="02020603050405020304" pitchFamily="18" charset="0"/>
                <a:cs typeface="Times New Roman" panose="02020603050405020304" pitchFamily="18" charset="0"/>
              </a:rPr>
              <a:t>overcome this problem, </a:t>
            </a:r>
            <a:r>
              <a:rPr lang="en-US" sz="2000" dirty="0" smtClean="0">
                <a:latin typeface="Times New Roman" panose="02020603050405020304" pitchFamily="18" charset="0"/>
                <a:cs typeface="Times New Roman" panose="02020603050405020304" pitchFamily="18" charset="0"/>
              </a:rPr>
              <a:t>scenario-based </a:t>
            </a:r>
            <a:r>
              <a:rPr lang="en-US" sz="2000" dirty="0">
                <a:latin typeface="Times New Roman" panose="02020603050405020304" pitchFamily="18" charset="0"/>
                <a:cs typeface="Times New Roman" panose="02020603050405020304" pitchFamily="18" charset="0"/>
              </a:rPr>
              <a:t>prototyping </a:t>
            </a:r>
            <a:r>
              <a:rPr lang="en-US" sz="2000" dirty="0" smtClean="0">
                <a:latin typeface="Times New Roman" panose="02020603050405020304" pitchFamily="18" charset="0"/>
                <a:cs typeface="Times New Roman" panose="02020603050405020304" pitchFamily="18" charset="0"/>
              </a:rPr>
              <a:t>approach can be proposed </a:t>
            </a:r>
            <a:r>
              <a:rPr lang="en-US" sz="2000" dirty="0">
                <a:latin typeface="Times New Roman" panose="02020603050405020304" pitchFamily="18" charset="0"/>
                <a:cs typeface="Times New Roman" panose="02020603050405020304" pitchFamily="18" charset="0"/>
              </a:rPr>
              <a:t>for designing complex software systems that is based on models, both structural and </a:t>
            </a:r>
            <a:r>
              <a:rPr lang="en-US" sz="2000" dirty="0" smtClean="0">
                <a:latin typeface="Times New Roman" panose="02020603050405020304" pitchFamily="18" charset="0"/>
                <a:cs typeface="Times New Roman" panose="02020603050405020304" pitchFamily="18" charset="0"/>
              </a:rPr>
              <a:t>behavioral </a:t>
            </a:r>
            <a:r>
              <a:rPr lang="en-US" sz="2000" dirty="0">
                <a:latin typeface="Times New Roman" panose="02020603050405020304" pitchFamily="18" charset="0"/>
                <a:cs typeface="Times New Roman" panose="02020603050405020304" pitchFamily="18" charset="0"/>
              </a:rPr>
              <a:t>models. </a:t>
            </a:r>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approach will support the stepwise and interactive enrichment of the prototype model, the traceability between the artefacts collected during earlier design phases and the scenarios. </a:t>
            </a:r>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models provide a more formal outcome of the design process for the downstream engineering activities, so that the gap between design and engineering can be narrowed.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2028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89140"/>
            <a:ext cx="4321479"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Scenario based prototyping</a:t>
            </a:r>
            <a:endParaRPr lang="en-IN" sz="2400" dirty="0">
              <a:latin typeface="Times New Roman" panose="02020603050405020304" pitchFamily="18" charset="0"/>
              <a:cs typeface="Times New Roman" panose="02020603050405020304" pitchFamily="18" charset="0"/>
            </a:endParaRPr>
          </a:p>
        </p:txBody>
      </p:sp>
      <p:sp>
        <p:nvSpPr>
          <p:cNvPr id="6" name="Rectangle 5"/>
          <p:cNvSpPr/>
          <p:nvPr/>
        </p:nvSpPr>
        <p:spPr>
          <a:xfrm>
            <a:off x="1538" y="1526203"/>
            <a:ext cx="12190462" cy="1015663"/>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Scenarios describe a sequence of events, illustrating the activities of one or more people in a real-world setting. The goals are to be realistic, detailed and concise. Since this is difficult to do quickly, it is best to cover only a limited period of time in the scenario. </a:t>
            </a:r>
            <a:endParaRPr lang="en-IN" sz="2000" dirty="0">
              <a:latin typeface="Times New Roman" panose="02020603050405020304" pitchFamily="18" charset="0"/>
              <a:cs typeface="Times New Roman" panose="02020603050405020304" pitchFamily="18" charset="0"/>
            </a:endParaRPr>
          </a:p>
        </p:txBody>
      </p:sp>
      <p:sp>
        <p:nvSpPr>
          <p:cNvPr id="7" name="Rectangle 6"/>
          <p:cNvSpPr/>
          <p:nvPr/>
        </p:nvSpPr>
        <p:spPr>
          <a:xfrm>
            <a:off x="0" y="2928331"/>
            <a:ext cx="12192000" cy="1015663"/>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We distinguish between </a:t>
            </a:r>
            <a:r>
              <a:rPr lang="en-US" sz="2000" b="1" dirty="0">
                <a:latin typeface="Times New Roman" panose="02020603050405020304" pitchFamily="18" charset="0"/>
                <a:cs typeface="Times New Roman" panose="02020603050405020304" pitchFamily="18" charset="0"/>
              </a:rPr>
              <a:t>use scenarios</a:t>
            </a:r>
            <a:r>
              <a:rPr lang="en-US" sz="2000" dirty="0">
                <a:latin typeface="Times New Roman" panose="02020603050405020304" pitchFamily="18" charset="0"/>
                <a:cs typeface="Times New Roman" panose="02020603050405020304" pitchFamily="18" charset="0"/>
              </a:rPr>
              <a:t>, which are a form of analysis of the interviews and represent what happens today in real-world settings, and </a:t>
            </a:r>
            <a:r>
              <a:rPr lang="en-US" sz="2000" b="1" dirty="0">
                <a:latin typeface="Times New Roman" panose="02020603050405020304" pitchFamily="18" charset="0"/>
                <a:cs typeface="Times New Roman" panose="02020603050405020304" pitchFamily="18" charset="0"/>
              </a:rPr>
              <a:t>design scenarios</a:t>
            </a:r>
            <a:r>
              <a:rPr lang="en-US" sz="2000" dirty="0">
                <a:latin typeface="Times New Roman" panose="02020603050405020304" pitchFamily="18" charset="0"/>
                <a:cs typeface="Times New Roman" panose="02020603050405020304" pitchFamily="18" charset="0"/>
              </a:rPr>
              <a:t>, which are revised versions of use scenarios that illustrate how a new technology might be used.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499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89140"/>
            <a:ext cx="4321479"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Scenario based prototyping</a:t>
            </a:r>
            <a:endParaRPr lang="en-IN" sz="2400" dirty="0">
              <a:latin typeface="Times New Roman" panose="02020603050405020304" pitchFamily="18" charset="0"/>
              <a:cs typeface="Times New Roman" panose="02020603050405020304" pitchFamily="18" charset="0"/>
            </a:endParaRPr>
          </a:p>
        </p:txBody>
      </p:sp>
      <p:pic>
        <p:nvPicPr>
          <p:cNvPr id="13316" name="Picture 4" descr="Mobile App Development | Developing Your Mobile App | Fenzo Digit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886" y="1746502"/>
            <a:ext cx="5346223" cy="3780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6613741" y="1019972"/>
            <a:ext cx="5581335" cy="707886"/>
          </a:xfrm>
          <a:prstGeom prst="rect">
            <a:avLst/>
          </a:prstGeom>
          <a:noFill/>
        </p:spPr>
        <p:txBody>
          <a:bodyPr wrap="square" rtlCol="0">
            <a:spAutoFit/>
          </a:bodyPr>
          <a:lstStyle/>
          <a:p>
            <a:pPr algn="just"/>
            <a:r>
              <a:rPr lang="en-IN" sz="2000" dirty="0" smtClean="0">
                <a:latin typeface="Times New Roman" panose="02020603050405020304" pitchFamily="18" charset="0"/>
                <a:cs typeface="Times New Roman" panose="02020603050405020304" pitchFamily="18" charset="0"/>
              </a:rPr>
              <a:t>Developing an app for IOS or Android and giving it to the customer for feedback</a:t>
            </a:r>
            <a:endParaRPr lang="en-IN" sz="2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6616818" y="1940986"/>
            <a:ext cx="5578258" cy="400110"/>
          </a:xfrm>
          <a:prstGeom prst="rect">
            <a:avLst/>
          </a:prstGeom>
          <a:noFill/>
        </p:spPr>
        <p:txBody>
          <a:bodyPr wrap="square" rtlCol="0">
            <a:spAutoFit/>
          </a:bodyPr>
          <a:lstStyle/>
          <a:p>
            <a:pPr algn="just"/>
            <a:r>
              <a:rPr lang="en-IN" sz="2000" dirty="0" smtClean="0">
                <a:latin typeface="Times New Roman" panose="02020603050405020304" pitchFamily="18" charset="0"/>
                <a:cs typeface="Times New Roman" panose="02020603050405020304" pitchFamily="18" charset="0"/>
              </a:rPr>
              <a:t>Revisions are must</a:t>
            </a:r>
            <a:endParaRPr lang="en-IN" sz="2000"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6613740" y="2500387"/>
            <a:ext cx="5578259" cy="1323439"/>
          </a:xfrm>
          <a:prstGeom prst="rect">
            <a:avLst/>
          </a:prstGeom>
          <a:noFill/>
        </p:spPr>
        <p:txBody>
          <a:bodyPr wrap="square" rtlCol="0">
            <a:spAutoFit/>
          </a:bodyPr>
          <a:lstStyle/>
          <a:p>
            <a:pPr algn="just"/>
            <a:r>
              <a:rPr lang="en-IN" sz="2000" dirty="0" smtClean="0">
                <a:latin typeface="Times New Roman" panose="02020603050405020304" pitchFamily="18" charset="0"/>
                <a:cs typeface="Times New Roman" panose="02020603050405020304" pitchFamily="18" charset="0"/>
              </a:rPr>
              <a:t>Instead of giving the original app developed, photos (Photoshop, illustrator or any other app) with real scenarios (push button enabled or directing to the test case) may be done.</a:t>
            </a:r>
            <a:endParaRPr lang="en-IN" sz="20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6613740" y="3888469"/>
            <a:ext cx="4947781" cy="1631216"/>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Now UI experts and User experience experts come to play and finally after many revisions the app is presented in its original form to the customer. (Even rolling out of Beta forms are in practice)</a:t>
            </a:r>
            <a:endParaRPr lang="en-IN" sz="20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5886" y="5810471"/>
            <a:ext cx="5346223" cy="1015663"/>
          </a:xfrm>
          <a:prstGeom prst="rect">
            <a:avLst/>
          </a:prstGeom>
          <a:noFill/>
        </p:spPr>
        <p:txBody>
          <a:bodyPr wrap="square" rtlCol="0">
            <a:spAutoFit/>
          </a:bodyPr>
          <a:lstStyle/>
          <a:p>
            <a:pPr algn="just"/>
            <a:r>
              <a:rPr lang="en-IN" sz="2000" dirty="0" smtClean="0">
                <a:latin typeface="Times New Roman" panose="02020603050405020304" pitchFamily="18" charset="0"/>
                <a:cs typeface="Times New Roman" panose="02020603050405020304" pitchFamily="18" charset="0"/>
              </a:rPr>
              <a:t>Types of Prototyping: Rapid prototyping/throwaway and Evolutionary prototyping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7826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3316"/>
                                        </p:tgtEl>
                                        <p:attrNameLst>
                                          <p:attrName>style.visibility</p:attrName>
                                        </p:attrNameLst>
                                      </p:cBhvr>
                                      <p:to>
                                        <p:strVal val="visible"/>
                                      </p:to>
                                    </p:set>
                                    <p:anim calcmode="lin" valueType="num">
                                      <p:cBhvr>
                                        <p:cTn id="7" dur="1000" fill="hold"/>
                                        <p:tgtEl>
                                          <p:spTgt spid="13316"/>
                                        </p:tgtEl>
                                        <p:attrNameLst>
                                          <p:attrName>ppt_w</p:attrName>
                                        </p:attrNameLst>
                                      </p:cBhvr>
                                      <p:tavLst>
                                        <p:tav tm="0">
                                          <p:val>
                                            <p:fltVal val="0"/>
                                          </p:val>
                                        </p:tav>
                                        <p:tav tm="100000">
                                          <p:val>
                                            <p:strVal val="#ppt_w"/>
                                          </p:val>
                                        </p:tav>
                                      </p:tavLst>
                                    </p:anim>
                                    <p:anim calcmode="lin" valueType="num">
                                      <p:cBhvr>
                                        <p:cTn id="8" dur="1000" fill="hold"/>
                                        <p:tgtEl>
                                          <p:spTgt spid="13316"/>
                                        </p:tgtEl>
                                        <p:attrNameLst>
                                          <p:attrName>ppt_h</p:attrName>
                                        </p:attrNameLst>
                                      </p:cBhvr>
                                      <p:tavLst>
                                        <p:tav tm="0">
                                          <p:val>
                                            <p:fltVal val="0"/>
                                          </p:val>
                                        </p:tav>
                                        <p:tav tm="100000">
                                          <p:val>
                                            <p:strVal val="#ppt_h"/>
                                          </p:val>
                                        </p:tav>
                                      </p:tavLst>
                                    </p:anim>
                                    <p:anim calcmode="lin" valueType="num">
                                      <p:cBhvr>
                                        <p:cTn id="9" dur="1000" fill="hold"/>
                                        <p:tgtEl>
                                          <p:spTgt spid="13316"/>
                                        </p:tgtEl>
                                        <p:attrNameLst>
                                          <p:attrName>style.rotation</p:attrName>
                                        </p:attrNameLst>
                                      </p:cBhvr>
                                      <p:tavLst>
                                        <p:tav tm="0">
                                          <p:val>
                                            <p:fltVal val="90"/>
                                          </p:val>
                                        </p:tav>
                                        <p:tav tm="100000">
                                          <p:val>
                                            <p:fltVal val="0"/>
                                          </p:val>
                                        </p:tav>
                                      </p:tavLst>
                                    </p:anim>
                                    <p:animEffect transition="in" filter="fade">
                                      <p:cBhvr>
                                        <p:cTn id="10" dur="1000"/>
                                        <p:tgtEl>
                                          <p:spTgt spid="13316"/>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0C693D7-94AD-4295-B3E2-49C6BBE462AF}"/>
              </a:ext>
            </a:extLst>
          </p:cNvPr>
          <p:cNvSpPr txBox="1"/>
          <p:nvPr/>
        </p:nvSpPr>
        <p:spPr>
          <a:xfrm>
            <a:off x="0" y="-9478"/>
            <a:ext cx="12195077" cy="52322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dirty="0">
                <a:latin typeface="Times New Roman"/>
                <a:cs typeface="Times New Roman"/>
              </a:rPr>
              <a:t>Design thinking in IT industry</a:t>
            </a:r>
          </a:p>
        </p:txBody>
      </p:sp>
      <p:sp>
        <p:nvSpPr>
          <p:cNvPr id="5" name="TextBox 4"/>
          <p:cNvSpPr txBox="1"/>
          <p:nvPr/>
        </p:nvSpPr>
        <p:spPr>
          <a:xfrm>
            <a:off x="0" y="789140"/>
            <a:ext cx="4321479" cy="461665"/>
          </a:xfrm>
          <a:prstGeom prst="rect">
            <a:avLst/>
          </a:prstGeom>
          <a:solidFill>
            <a:schemeClr val="accent2">
              <a:lumMod val="20000"/>
              <a:lumOff val="80000"/>
            </a:schemeClr>
          </a:solid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Scenario based prototyping</a:t>
            </a:r>
            <a:endParaRPr lang="en-IN" sz="24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513567" y="1578279"/>
            <a:ext cx="4509370"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Scenarios</a:t>
            </a:r>
            <a:endParaRPr lang="en-IN" sz="20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565754" y="2130676"/>
            <a:ext cx="5812076"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Rich stories of interaction</a:t>
            </a:r>
            <a:endParaRPr lang="en-IN" sz="2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565754" y="2642816"/>
            <a:ext cx="5812076"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Plain text, pictures, sketches, screenshots etc.,</a:t>
            </a:r>
            <a:endParaRPr lang="en-IN" sz="2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565754" y="3195213"/>
            <a:ext cx="5812076"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Storyboards</a:t>
            </a:r>
            <a:endParaRPr lang="en-IN" sz="20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1565754" y="3747610"/>
            <a:ext cx="1053438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Scenarios make us think about the design in detail and notice potential problems before they happen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8867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1640910" y="1903956"/>
            <a:ext cx="8755693" cy="2968669"/>
            <a:chOff x="1640910" y="1903956"/>
            <a:chExt cx="8755693" cy="2968669"/>
          </a:xfrm>
        </p:grpSpPr>
        <p:sp>
          <p:nvSpPr>
            <p:cNvPr id="4" name="Oval 3"/>
            <p:cNvSpPr/>
            <p:nvPr/>
          </p:nvSpPr>
          <p:spPr>
            <a:xfrm>
              <a:off x="1640910" y="1903956"/>
              <a:ext cx="8755693" cy="29686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2141950" y="2665005"/>
              <a:ext cx="7753611" cy="923330"/>
            </a:xfrm>
            <a:prstGeom prst="rect">
              <a:avLst/>
            </a:prstGeom>
            <a:noFill/>
          </p:spPr>
          <p:txBody>
            <a:bodyPr wrap="square" rtlCol="0">
              <a:spAutoFit/>
            </a:bodyPr>
            <a:lstStyle/>
            <a:p>
              <a:pPr algn="ctr"/>
              <a:r>
                <a:rPr lang="en-IN" sz="5400" i="1" dirty="0" smtClean="0">
                  <a:solidFill>
                    <a:srgbClr val="FF0000"/>
                  </a:solidFill>
                  <a:latin typeface="Times New Roman" panose="02020603050405020304" pitchFamily="18" charset="0"/>
                  <a:cs typeface="Times New Roman" panose="02020603050405020304" pitchFamily="18" charset="0"/>
                </a:rPr>
                <a:t>Thank You</a:t>
              </a:r>
              <a:endParaRPr lang="en-IN" sz="5400" i="1" dirty="0">
                <a:solidFill>
                  <a:srgbClr val="FF000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16713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1191</TotalTime>
  <Words>2427</Words>
  <Application>Microsoft Office PowerPoint</Application>
  <PresentationFormat>Custom</PresentationFormat>
  <Paragraphs>170</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Concourse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Meghala Veeresh</dc:creator>
  <cp:lastModifiedBy>Radha Krishnan</cp:lastModifiedBy>
  <cp:revision>176</cp:revision>
  <dcterms:created xsi:type="dcterms:W3CDTF">2021-12-05T03:42:33Z</dcterms:created>
  <dcterms:modified xsi:type="dcterms:W3CDTF">2023-02-15T04:54:43Z</dcterms:modified>
</cp:coreProperties>
</file>